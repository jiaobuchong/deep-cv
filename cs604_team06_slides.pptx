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afternoon. We are Team 06. Our task was to adapt one pretrained Vision Transformer, ViT-B/16, to a 10,000-class fine-grained dataset under a fixed compute budget, with both full fine-tuning and parameter-efficient methods.</a:t>
            </a:r>
          </a:p>
          <a:p/>
          <a:p>
            <a:r>
              <a:t>The headline: our final full fine-tuning model reaches 76.22% top-1 on the CodaBench validation set, and our LoRA model reaches 71.90% while training only 1.375% of the backbone. The single change that mattered most was how we initialize the 10,000-class classifier head.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dataset has 10,000 fine-grained classes but only 45 training images per class, 450,000 images in total. So per class this is close to a few-shot problem.</a:t>
            </a:r>
          </a:p>
          <a:p/>
          <a:p>
            <a:r>
              <a:t>The backbone is fixed: ViT-B/16, pretrained on ImageNet-21k and fine-tuned on ImageNet-1k. Every training run must fit in 2 hours on 48 GB of GPU memory. We trained on one A100 with 80 GB, so we converted the budget to 96 GB-hours divided by 80 GB, which is 1.2 hours per run, counting head initialization, training and per-epoch evaluation.</a:t>
            </a:r>
          </a:p>
          <a:p/>
          <a:p>
            <a:r>
              <a:t>The parameter-efficient track should train less than 5% of the parameters. We report all four metrics the brief asks for: top-1 accuracy, trainable parameters, inference latency and training GPU-hours.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trying anything new, we reproduced the three reference numbers from the brief. The zero-shot prototype head gives 43.95% against 43.7%, full fine-tuning for 3 epochs gives 70.88% against 70.8%, and LoRA with rank 8 on the attention qkv projection gives 68.57% against 68.3%. So our pipeline matches the reference.</a:t>
            </a:r>
          </a:p>
          <a:p/>
          <a:p>
            <a:r>
              <a:t>The validation labels are hidden, so we held out 2 training images per class, 20,000 images, as a local validation set. Holdout and CodaBench agree within 0.3 points on the two models we checked, so the ablations that follow are on holdout.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whole pipeline. Step one: we run the frozen backbone once over all training images and keep the 768-dimensional CLS features. Step two, the key design choice: each class's weight in the new 10,000-class head is the L2-normalized mean of its features, scaled by a temperature of 40. That takes no gradient steps at all. Step three: we fine-tune, either the whole network or LoRA with rank 8 on every linear layer of every block, which is 1.375% of the backbone. Step four: at prediction time we average the logits of the image and its horizontal flip.</a:t>
            </a:r>
          </a:p>
          <a:p/>
          <a:p>
            <a:r>
              <a:t>Every run is also budget-aware. After 120 steps we measure the speed, compute how many steps fit into 1.2 GPU-hours, and compress the cosine schedule if needed, so no run can exceed the budget.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new head has 10,000 classes and 7.69 million parameters, so how we start it matters. We compared three options.</a:t>
            </a:r>
          </a:p>
          <a:p/>
          <a:p>
            <a:r>
              <a:t>Random: the timm default, small random weights, so the head knows nothing at the start.</a:t>
            </a:r>
          </a:p>
          <a:p/>
          <a:p>
            <a:r>
              <a:t>Prototype, our choice: each class weight is the normalized mean feature of that class, times a temperature. It needs no training and already gives 44% before any fine-tuning.</a:t>
            </a:r>
          </a:p>
          <a:p/>
          <a:p>
            <a:r>
              <a:t>Linear probe: we start from the prototypes and train only the head for 10 epochs on frozen features. It starts strongest, at 62%. This is the classic linear-probe-then-fine-tune recipe, and it was our first design. Intuition says the strongest starting head should win. The next slide shows it does not.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our main finding. In every pair, with everything else identical, the prototype head beats the linear-probe head. Full fine-tuning for 3 epochs: plus 2.5 points on holdout. LoRA on all linear layers for 3 epochs: plus 2.5 points. And our final setting, full fine-tuning for 8 epochs on all data with flip TTA: plus 3.1 points on CodaBench, from 73.10% to 76.22%.</a:t>
            </a:r>
          </a:p>
          <a:p/>
          <a:p>
            <a:r>
              <a:t>We also tried a random head. It ends level with the prototype head, 71.95% against 72.00%, but learns more slowly in the first epochs. So the problem is specifically the linear-probe head.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learning curves behind that finding. The leftmost point is the head on its own, before any training: the linear-probe head, in orange, starts at 62%, far above the prototype head, in blue, at 44%.</a:t>
            </a:r>
          </a:p>
          <a:p/>
          <a:p>
            <a:r>
              <a:t>But after the first epoch the prototype run has caught up, and from then on it stays ahead. After 3 epochs it finishes 2.5 points higher for full fine-tuning on the left, and 2.5 points higher for LoRA on the right. With LoRA the linear-probe run even stalls in the first epoch: holdout stays at 62%.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does the stronger start lose? Our explanation, consistent with the logs: the linear-probe head was trained on frozen features of the very same training images, so it already fits the training set. The training loss starts low, 2.29 against 4.39 for the prototype head in the LoRA runs, so only a weak gradient reaches the backbone and it learns less.</a:t>
            </a:r>
          </a:p>
          <a:p/>
          <a:p>
            <a:r>
              <a:t>Then, as soon as the backbone features move, the fitted head no longer matches them. With LoRA the training loss actually rose from 2.22 to 2.69 during the first epoch, and the holdout accuracy stalled.</a:t>
            </a:r>
          </a:p>
          <a:p/>
          <a:p>
            <a:r>
              <a:t>The chart shows full fine-tuning on all data. The prototype run keeps a higher training loss all the way, 1.85 against 1.77 in the last epoch, but it is 3.1 points better on CodaBench, so the linear-probe run is fitting the training images rather than learning general features. The step at every epoch boundary is the same memorization effect.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question: how should the parameter-efficient model spend its budget? All runs here use the same linear-probe head and 3 epochs, so only the PEFT design changes.</a:t>
            </a:r>
          </a:p>
          <a:p/>
          <a:p>
            <a:r>
              <a:t>Halving the LoRA learning rate did nothing: minus 0.12, which is within noise. Putting LoRA on every linear layer, so that it also adapts the MLP, gained 0.88 points, at 1.375% of the backbone, still far below the 5% limit. So the bottleneck is capacity, not the learning rate.</a:t>
            </a:r>
          </a:p>
          <a:p/>
          <a:p>
            <a:r>
              <a:t>AdaptFormer, the adapter in parallel to the MLP, is close in accuracy and the fastest to train, but its modules cannot be merged into the backbone, so inference at batch size 1 is about 35% slower than a merged LoRA.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Third finding: training length behaves in opposite ways for the two methods. Full fine-tuning keeps improving: 3 to 8 epochs adds 1.4 points with the linear-probe head and 2.2 points on CodaBench with the prototype head, which is how we got to 76.22%.</a:t>
            </a:r>
          </a:p>
          <a:p/>
          <a:p>
            <a:r>
              <a:t>LoRA saturates after about 3 epochs. With the qkv-only LoRA, 10 epochs is no better than 3; with the prototype head, 6 epochs is even 0.46 points worse than 3. Our reading: full fine-tuning uses a small learning rate, 1e-4, with layer-wise decay, so it moves gently; LoRA uses 1e-3 and starts to memorize the training images. So we train full fine-tuning for the whole budget and stop LoRA at 3 epochs.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chart is the path to our final CodaBench score, one change per step, with the same model and 8 epochs throughout.</a:t>
            </a:r>
          </a:p>
          <a:p/>
          <a:p>
            <a:r>
              <a:t>Our full fine-tuning with the linear-probe head scored 72.57%, already above the 70.8% reference. Flip test-time augmentation added 0.27 points. Training on all 45 images per class instead of holding out 2 added another 0.26. That one is at the edge of noise, but it points the expected way. Then switching only the head initialization to prototypes added 3.12 points, to 76.22%. That last step is bigger than everything before it combined.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two final models side by side with the references, on all the metrics the brief asks for.</a:t>
            </a:r>
          </a:p>
          <a:p/>
          <a:p>
            <a:r>
              <a:t>Full fine-tuning with the prototype head, 8 epochs, all data and flip TTA reaches 76.22% on CodaBench val, 5.4 points above the reference, using 1.03 of the 1.2 allowed GPU-hours and 18.9 GB of memory. Its latency is 14.95 ms per image because of the two TTA passes; without TTA it is 7.35 ms.</a:t>
            </a:r>
          </a:p>
          <a:p/>
          <a:p>
            <a:r>
              <a:t>Our LoRA model trains only 1.375% of the backbone and reaches 71.90%, 3.6 points above the reference LoRA, in 0.54 GPU-hours. After merging, its latency equals the base model.</a:t>
            </a:r>
          </a:p>
          <a:p/>
          <a:p>
            <a:r>
              <a:t>The test-set column will be filled in after Phase 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practical lesson about cost. What PEFT clearly saves is trainable parameters and storage: 1.375% of the backbone, and a checkpoint of about 36 MB, most of which is the 10,000-class head, against 374 MB for full fine-tuning.</a:t>
            </a:r>
          </a:p>
          <a:p/>
          <a:p>
            <a:r>
              <a:t>What it did not save in our runs is training time or memory. Gradients still flow back through the whole frozen backbone, and the extra LoRA branches add work, so LoRA on all linear layers trained at 885 images per second against 1,131 for full fine-tuning, with slightly more peak memory.</a:t>
            </a:r>
          </a:p>
          <a:p/>
          <a:p>
            <a:r>
              <a:t>At inference, merging is what matters. LoRA merges into the weights and costs nothing extra. AdaptFormer cannot be merged and is about 35% slower at batch size 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 up in four points. One: initialize the 10,000-class head from class prototypes, not from a linear probe; that alone is worth 2.5 to 3.1 points. Two: for LoRA, add capacity in the MLP rather than tuning the learning rate. Three: full fine-tuning should use the whole budget, while LoRA should stop at about 3 epochs. And four, the outcome: 76.22% with full fine-tuning and 71.90% with LoRA on CodaBench val, both well inside the compute budget.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We are happy to take questions. Likely questions: why prototypes beat the linear probe, whether the gains hold on the test set, and why LoRA was not faster to train. The backup slide has the exact hyperparameters and how we counted GPU time.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Backup slide for questions about implementation. Left: the training recipe for both methods. Right: how we measured. GPU time counts everything that uses the GPU for training, including the feature extraction for the prototype head, but not unpacking data, saving checkpoints or the final prediction. Latency is measured with random input, forward pass only, in bf16 at batch size 1. The software versions were logged from the later runs onward.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5202B"/>
        </a:solidFill>
        <a:effectLst/>
      </p:bgPr>
    </p:bg>
    <p:spTree>
      <p:nvGrpSpPr>
        <p:cNvPr id="1" name=""/>
        <p:cNvGrpSpPr/>
        <p:nvPr/>
      </p:nvGrpSpPr>
      <p:grpSpPr/>
      <p:sp>
        <p:nvSpPr>
          <p:cNvPr id="2" name="Title 1"/>
          <p:cNvSpPr>
            <a:spLocks noGrp="1"/>
          </p:cNvSpPr>
          <p:nvPr>
            <p:ph type="title"/>
          </p:nvPr>
        </p:nvSpPr>
        <p:spPr>
          <a:xfrm>
            <a:off x="812800" y="1905000"/>
            <a:ext cx="10566400" cy="1844040"/>
          </a:xfrm>
        </p:spPr>
        <p:txBody>
          <a:bodyPr wrap="square" lIns="0" rIns="0" tIns="0" bIns="0" anchor="t">
            <a:noAutofit/>
          </a:bodyPr>
          <a:lstStyle/>
          <a:p>
            <a:pPr algn="l">
              <a:lnSpc>
                <a:spcPts val="4840"/>
              </a:lnSpc>
            </a:pPr>
            <a:r>
              <a:rPr sz="4400" b="1">
                <a:solidFill>
                  <a:srgbClr val="F5F3EE"/>
                </a:solidFill>
                <a:latin typeface="Georgia"/>
              </a:rPr>
              <a:t>Prototype-initialized adaptation of ViT-B/16 for 10,000-class fine-grained classification</a:t>
            </a:r>
          </a:p>
        </p:txBody>
      </p:sp>
      <p:sp>
        <p:nvSpPr>
          <p:cNvPr id="3" name="TextBox 2"/>
          <p:cNvSpPr txBox="1"/>
          <p:nvPr/>
        </p:nvSpPr>
        <p:spPr>
          <a:xfrm>
            <a:off x="812800" y="812800"/>
            <a:ext cx="8890000" cy="213360"/>
          </a:xfrm>
          <a:prstGeom prst="rect">
            <a:avLst/>
          </a:prstGeom>
          <a:noFill/>
        </p:spPr>
        <p:txBody>
          <a:bodyPr wrap="square" lIns="0" rIns="0" tIns="0" bIns="0" anchor="t">
            <a:noAutofit/>
          </a:bodyPr>
          <a:lstStyle/>
          <a:p>
            <a:pPr algn="l">
              <a:lnSpc>
                <a:spcPts val="1680"/>
              </a:lnSpc>
            </a:pPr>
            <a:r>
              <a:rPr sz="1400" b="1" spc="200">
                <a:solidFill>
                  <a:srgbClr val="7FB2F0"/>
                </a:solidFill>
                <a:latin typeface="Arial"/>
              </a:rPr>
              <a:t>CS604 COURSE PROJECT · TEAM 06</a:t>
            </a:r>
          </a:p>
        </p:txBody>
      </p:sp>
      <p:sp>
        <p:nvSpPr>
          <p:cNvPr id="4" name="Oval 3"/>
          <p:cNvSpPr/>
          <p:nvPr/>
        </p:nvSpPr>
        <p:spPr>
          <a:xfrm>
            <a:off x="10820400" y="838200"/>
            <a:ext cx="127000" cy="127000"/>
          </a:xfrm>
          <a:prstGeom prst="ellipse">
            <a:avLst/>
          </a:prstGeom>
          <a:solidFill>
            <a:srgbClr val="9AA1A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Oval 4"/>
          <p:cNvSpPr/>
          <p:nvPr/>
        </p:nvSpPr>
        <p:spPr>
          <a:xfrm>
            <a:off x="11023600" y="838200"/>
            <a:ext cx="127000" cy="1270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Oval 5"/>
          <p:cNvSpPr/>
          <p:nvPr/>
        </p:nvSpPr>
        <p:spPr>
          <a:xfrm>
            <a:off x="11226800" y="838200"/>
            <a:ext cx="127000" cy="1270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TextBox 6"/>
          <p:cNvSpPr txBox="1"/>
          <p:nvPr/>
        </p:nvSpPr>
        <p:spPr>
          <a:xfrm>
            <a:off x="812800" y="4079240"/>
            <a:ext cx="9652000" cy="617220"/>
          </a:xfrm>
          <a:prstGeom prst="rect">
            <a:avLst/>
          </a:prstGeom>
          <a:noFill/>
        </p:spPr>
        <p:txBody>
          <a:bodyPr wrap="square" lIns="0" rIns="0" tIns="0" bIns="0" anchor="t">
            <a:noAutofit/>
          </a:bodyPr>
          <a:lstStyle/>
          <a:p>
            <a:pPr algn="l">
              <a:lnSpc>
                <a:spcPts val="2430"/>
              </a:lnSpc>
            </a:pPr>
            <a:r>
              <a:rPr sz="1800" b="0">
                <a:solidFill>
                  <a:srgbClr val="C9CFD6"/>
                </a:solidFill>
                <a:latin typeface="Arial"/>
              </a:rPr>
              <a:t>Full fine-tuning reaches 76.22% and LoRA 71.90% top-1 on CodaBench val, inside a 2-hour, 48 GB training budget</a:t>
            </a:r>
          </a:p>
        </p:txBody>
      </p:sp>
      <p:sp>
        <p:nvSpPr>
          <p:cNvPr id="8" name="TextBox 7"/>
          <p:cNvSpPr txBox="1"/>
          <p:nvPr/>
        </p:nvSpPr>
        <p:spPr>
          <a:xfrm>
            <a:off x="812800" y="5943600"/>
            <a:ext cx="10566400" cy="213360"/>
          </a:xfrm>
          <a:prstGeom prst="rect">
            <a:avLst/>
          </a:prstGeom>
          <a:noFill/>
        </p:spPr>
        <p:txBody>
          <a:bodyPr wrap="square" lIns="0" rIns="0" tIns="0" bIns="0" anchor="t">
            <a:noAutofit/>
          </a:bodyPr>
          <a:lstStyle/>
          <a:p>
            <a:pPr algn="l">
              <a:lnSpc>
                <a:spcPts val="1680"/>
              </a:lnSpc>
            </a:pPr>
            <a:r>
              <a:rPr sz="1400" b="0">
                <a:solidFill>
                  <a:srgbClr val="C9CFD6"/>
                </a:solidFill>
                <a:latin typeface="Arial"/>
              </a:rPr>
              <a:t>[Member names] · 7 November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itle 1"/>
          <p:cNvSpPr>
            <a:spLocks noGrp="1"/>
          </p:cNvSpPr>
          <p:nvPr>
            <p:ph type="title"/>
          </p:nvPr>
        </p:nvSpPr>
        <p:spPr>
          <a:xfrm>
            <a:off x="812800" y="889000"/>
            <a:ext cx="10566400" cy="512064"/>
          </a:xfrm>
        </p:spPr>
        <p:txBody>
          <a:bodyPr wrap="square" lIns="0" rIns="0" tIns="0" bIns="0" anchor="t">
            <a:noAutofit/>
          </a:bodyPr>
          <a:lstStyle/>
          <a:p>
            <a:pPr algn="l">
              <a:lnSpc>
                <a:spcPts val="4032"/>
              </a:lnSpc>
            </a:pPr>
            <a:r>
              <a:rPr sz="3600" b="1">
                <a:solidFill>
                  <a:srgbClr val="15202B"/>
                </a:solidFill>
                <a:latin typeface="Georgia"/>
              </a:rPr>
              <a:t>One ViT, 10,000 classes, a fixed budget</a:t>
            </a:r>
          </a:p>
        </p:txBody>
      </p:sp>
      <p:sp>
        <p:nvSpPr>
          <p:cNvPr id="3" name="TextBox 2"/>
          <p:cNvSpPr txBox="1"/>
          <p:nvPr/>
        </p:nvSpPr>
        <p:spPr>
          <a:xfrm>
            <a:off x="812800" y="635000"/>
            <a:ext cx="10566400" cy="182880"/>
          </a:xfrm>
          <a:prstGeom prst="rect">
            <a:avLst/>
          </a:prstGeom>
          <a:noFill/>
        </p:spPr>
        <p:txBody>
          <a:bodyPr wrap="square" lIns="0" rIns="0" tIns="0" bIns="0" anchor="t">
            <a:noAutofit/>
          </a:bodyPr>
          <a:lstStyle/>
          <a:p>
            <a:pPr algn="l">
              <a:lnSpc>
                <a:spcPts val="1439"/>
              </a:lnSpc>
            </a:pPr>
            <a:r>
              <a:rPr sz="1200" b="1" spc="150">
                <a:solidFill>
                  <a:srgbClr val="1F5FAD"/>
                </a:solidFill>
                <a:latin typeface="Arial"/>
              </a:rPr>
              <a:t>THE TASK</a:t>
            </a:r>
          </a:p>
        </p:txBody>
      </p:sp>
      <p:sp>
        <p:nvSpPr>
          <p:cNvPr id="4" name="Rounded Rectangle 3"/>
          <p:cNvSpPr/>
          <p:nvPr/>
        </p:nvSpPr>
        <p:spPr>
          <a:xfrm>
            <a:off x="812800" y="1731264"/>
            <a:ext cx="2489200" cy="2044700"/>
          </a:xfrm>
          <a:prstGeom prst="roundRect">
            <a:avLst>
              <a:gd name="adj" fmla="val 6211"/>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1041400" y="1959864"/>
            <a:ext cx="2032000" cy="558800"/>
          </a:xfrm>
          <a:prstGeom prst="rect">
            <a:avLst/>
          </a:prstGeom>
          <a:noFill/>
        </p:spPr>
        <p:txBody>
          <a:bodyPr wrap="square" lIns="0" rIns="0" tIns="0" bIns="0" anchor="t">
            <a:noAutofit/>
          </a:bodyPr>
          <a:lstStyle/>
          <a:p>
            <a:pPr algn="l">
              <a:lnSpc>
                <a:spcPts val="4400"/>
              </a:lnSpc>
            </a:pPr>
            <a:r>
              <a:rPr sz="4000" b="1">
                <a:solidFill>
                  <a:srgbClr val="2A78D6"/>
                </a:solidFill>
                <a:latin typeface="Georgia"/>
              </a:rPr>
              <a:t>10,000</a:t>
            </a:r>
          </a:p>
        </p:txBody>
      </p:sp>
      <p:sp>
        <p:nvSpPr>
          <p:cNvPr id="6" name="TextBox 5"/>
          <p:cNvSpPr txBox="1"/>
          <p:nvPr/>
        </p:nvSpPr>
        <p:spPr>
          <a:xfrm>
            <a:off x="1041400" y="2594864"/>
            <a:ext cx="2032000" cy="714375"/>
          </a:xfrm>
          <a:prstGeom prst="rect">
            <a:avLst/>
          </a:prstGeom>
          <a:noFill/>
        </p:spPr>
        <p:txBody>
          <a:bodyPr wrap="square" lIns="0" rIns="0" tIns="0" bIns="0" anchor="t">
            <a:noAutofit/>
          </a:bodyPr>
          <a:lstStyle/>
          <a:p>
            <a:pPr algn="l">
              <a:lnSpc>
                <a:spcPts val="1875"/>
              </a:lnSpc>
            </a:pPr>
            <a:r>
              <a:rPr sz="1500" b="0">
                <a:solidFill>
                  <a:srgbClr val="4A5563"/>
                </a:solidFill>
                <a:latin typeface="Arial"/>
              </a:rPr>
              <a:t>fine-grained classes in an anonymized dataset</a:t>
            </a:r>
          </a:p>
        </p:txBody>
      </p:sp>
      <p:sp>
        <p:nvSpPr>
          <p:cNvPr id="7" name="Rounded Rectangle 6"/>
          <p:cNvSpPr/>
          <p:nvPr/>
        </p:nvSpPr>
        <p:spPr>
          <a:xfrm>
            <a:off x="3505200" y="1731264"/>
            <a:ext cx="2489200" cy="2044700"/>
          </a:xfrm>
          <a:prstGeom prst="roundRect">
            <a:avLst>
              <a:gd name="adj" fmla="val 6211"/>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xtBox 7"/>
          <p:cNvSpPr txBox="1"/>
          <p:nvPr/>
        </p:nvSpPr>
        <p:spPr>
          <a:xfrm>
            <a:off x="3733800" y="1959864"/>
            <a:ext cx="2032000" cy="558800"/>
          </a:xfrm>
          <a:prstGeom prst="rect">
            <a:avLst/>
          </a:prstGeom>
          <a:noFill/>
        </p:spPr>
        <p:txBody>
          <a:bodyPr wrap="square" lIns="0" rIns="0" tIns="0" bIns="0" anchor="t">
            <a:noAutofit/>
          </a:bodyPr>
          <a:lstStyle/>
          <a:p>
            <a:pPr algn="l">
              <a:lnSpc>
                <a:spcPts val="4400"/>
              </a:lnSpc>
            </a:pPr>
            <a:r>
              <a:rPr sz="4000" b="1">
                <a:solidFill>
                  <a:srgbClr val="2A78D6"/>
                </a:solidFill>
                <a:latin typeface="Georgia"/>
              </a:rPr>
              <a:t>45</a:t>
            </a:r>
          </a:p>
        </p:txBody>
      </p:sp>
      <p:sp>
        <p:nvSpPr>
          <p:cNvPr id="9" name="TextBox 8"/>
          <p:cNvSpPr txBox="1"/>
          <p:nvPr/>
        </p:nvSpPr>
        <p:spPr>
          <a:xfrm>
            <a:off x="3733800" y="2594864"/>
            <a:ext cx="2032000" cy="476250"/>
          </a:xfrm>
          <a:prstGeom prst="rect">
            <a:avLst/>
          </a:prstGeom>
          <a:noFill/>
        </p:spPr>
        <p:txBody>
          <a:bodyPr wrap="square" lIns="0" rIns="0" tIns="0" bIns="0" anchor="t">
            <a:noAutofit/>
          </a:bodyPr>
          <a:lstStyle/>
          <a:p>
            <a:pPr algn="l">
              <a:lnSpc>
                <a:spcPts val="1875"/>
              </a:lnSpc>
            </a:pPr>
            <a:r>
              <a:rPr sz="1500" b="0">
                <a:solidFill>
                  <a:srgbClr val="4A5563"/>
                </a:solidFill>
                <a:latin typeface="Arial"/>
              </a:rPr>
              <a:t>training images per class, 450,000 in total</a:t>
            </a:r>
          </a:p>
        </p:txBody>
      </p:sp>
      <p:sp>
        <p:nvSpPr>
          <p:cNvPr id="10" name="Rounded Rectangle 9"/>
          <p:cNvSpPr/>
          <p:nvPr/>
        </p:nvSpPr>
        <p:spPr>
          <a:xfrm>
            <a:off x="6197600" y="1731264"/>
            <a:ext cx="2489200" cy="2044700"/>
          </a:xfrm>
          <a:prstGeom prst="roundRect">
            <a:avLst>
              <a:gd name="adj" fmla="val 6211"/>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xtBox 10"/>
          <p:cNvSpPr txBox="1"/>
          <p:nvPr/>
        </p:nvSpPr>
        <p:spPr>
          <a:xfrm>
            <a:off x="6426200" y="1959864"/>
            <a:ext cx="2032000" cy="558800"/>
          </a:xfrm>
          <a:prstGeom prst="rect">
            <a:avLst/>
          </a:prstGeom>
          <a:noFill/>
        </p:spPr>
        <p:txBody>
          <a:bodyPr wrap="square" lIns="0" rIns="0" tIns="0" bIns="0" anchor="t">
            <a:noAutofit/>
          </a:bodyPr>
          <a:lstStyle/>
          <a:p>
            <a:pPr algn="l">
              <a:lnSpc>
                <a:spcPts val="4400"/>
              </a:lnSpc>
            </a:pPr>
            <a:r>
              <a:rPr sz="4000" b="1">
                <a:solidFill>
                  <a:srgbClr val="2A78D6"/>
                </a:solidFill>
                <a:latin typeface="Georgia"/>
              </a:rPr>
              <a:t>1.2 h</a:t>
            </a:r>
          </a:p>
        </p:txBody>
      </p:sp>
      <p:sp>
        <p:nvSpPr>
          <p:cNvPr id="12" name="TextBox 11"/>
          <p:cNvSpPr txBox="1"/>
          <p:nvPr/>
        </p:nvSpPr>
        <p:spPr>
          <a:xfrm>
            <a:off x="6426200" y="2594864"/>
            <a:ext cx="2032000" cy="714375"/>
          </a:xfrm>
          <a:prstGeom prst="rect">
            <a:avLst/>
          </a:prstGeom>
          <a:noFill/>
        </p:spPr>
        <p:txBody>
          <a:bodyPr wrap="square" lIns="0" rIns="0" tIns="0" bIns="0" anchor="t">
            <a:noAutofit/>
          </a:bodyPr>
          <a:lstStyle/>
          <a:p>
            <a:pPr algn="l">
              <a:lnSpc>
                <a:spcPts val="1875"/>
              </a:lnSpc>
            </a:pPr>
            <a:r>
              <a:rPr sz="1500" b="0">
                <a:solidFill>
                  <a:srgbClr val="4A5563"/>
                </a:solidFill>
                <a:latin typeface="Arial"/>
              </a:rPr>
              <a:t>per training run on one A100-80GB (the 2 h × 48 GB budget)</a:t>
            </a:r>
          </a:p>
        </p:txBody>
      </p:sp>
      <p:sp>
        <p:nvSpPr>
          <p:cNvPr id="13" name="Rounded Rectangle 12"/>
          <p:cNvSpPr/>
          <p:nvPr/>
        </p:nvSpPr>
        <p:spPr>
          <a:xfrm>
            <a:off x="8890000" y="1731264"/>
            <a:ext cx="2489200" cy="2044700"/>
          </a:xfrm>
          <a:prstGeom prst="roundRect">
            <a:avLst>
              <a:gd name="adj" fmla="val 6211"/>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xtBox 13"/>
          <p:cNvSpPr txBox="1"/>
          <p:nvPr/>
        </p:nvSpPr>
        <p:spPr>
          <a:xfrm>
            <a:off x="9118600" y="1959864"/>
            <a:ext cx="2032000" cy="558800"/>
          </a:xfrm>
          <a:prstGeom prst="rect">
            <a:avLst/>
          </a:prstGeom>
          <a:noFill/>
        </p:spPr>
        <p:txBody>
          <a:bodyPr wrap="square" lIns="0" rIns="0" tIns="0" bIns="0" anchor="t">
            <a:noAutofit/>
          </a:bodyPr>
          <a:lstStyle/>
          <a:p>
            <a:pPr algn="l">
              <a:lnSpc>
                <a:spcPts val="4400"/>
              </a:lnSpc>
            </a:pPr>
            <a:r>
              <a:rPr sz="4000" b="1">
                <a:solidFill>
                  <a:srgbClr val="2A78D6"/>
                </a:solidFill>
                <a:latin typeface="Georgia"/>
              </a:rPr>
              <a:t>&lt; 5%</a:t>
            </a:r>
          </a:p>
        </p:txBody>
      </p:sp>
      <p:sp>
        <p:nvSpPr>
          <p:cNvPr id="15" name="TextBox 14"/>
          <p:cNvSpPr txBox="1"/>
          <p:nvPr/>
        </p:nvSpPr>
        <p:spPr>
          <a:xfrm>
            <a:off x="9118600" y="2594864"/>
            <a:ext cx="2032000" cy="952500"/>
          </a:xfrm>
          <a:prstGeom prst="rect">
            <a:avLst/>
          </a:prstGeom>
          <a:noFill/>
        </p:spPr>
        <p:txBody>
          <a:bodyPr wrap="square" lIns="0" rIns="0" tIns="0" bIns="0" anchor="t">
            <a:noAutofit/>
          </a:bodyPr>
          <a:lstStyle/>
          <a:p>
            <a:pPr algn="l">
              <a:lnSpc>
                <a:spcPts val="1875"/>
              </a:lnSpc>
            </a:pPr>
            <a:r>
              <a:rPr sz="1500" b="0">
                <a:solidFill>
                  <a:srgbClr val="4A5563"/>
                </a:solidFill>
                <a:latin typeface="Arial"/>
              </a:rPr>
              <a:t>trainable parameters for the parameter-efficient track</a:t>
            </a:r>
          </a:p>
        </p:txBody>
      </p:sp>
      <p:sp>
        <p:nvSpPr>
          <p:cNvPr id="16" name="TextBox 15"/>
          <p:cNvSpPr txBox="1"/>
          <p:nvPr/>
        </p:nvSpPr>
        <p:spPr>
          <a:xfrm>
            <a:off x="812800" y="4156964"/>
            <a:ext cx="10566400" cy="514350"/>
          </a:xfrm>
          <a:prstGeom prst="rect">
            <a:avLst/>
          </a:prstGeom>
          <a:noFill/>
        </p:spPr>
        <p:txBody>
          <a:bodyPr wrap="square" lIns="0" rIns="0" tIns="0" bIns="0" anchor="t">
            <a:noAutofit/>
          </a:bodyPr>
          <a:lstStyle/>
          <a:p>
            <a:pPr algn="l">
              <a:lnSpc>
                <a:spcPts val="2025"/>
              </a:lnSpc>
            </a:pPr>
            <a:r>
              <a:rPr sz="1500" b="0">
                <a:solidFill>
                  <a:srgbClr val="4A5563"/>
                </a:solidFill>
                <a:latin typeface="Arial"/>
              </a:rPr>
              <a:t>Base model: ViT-B/16, pretrained on ImageNet-21k and fine-tuned on ImageNet-1k (timm). Graded on top-1 accuracy, trainable parameters, inference latency and training GPU-hours.</a:t>
            </a:r>
          </a:p>
        </p:txBody>
      </p:sp>
      <p:sp>
        <p:nvSpPr>
          <p:cNvPr id="17" name="TextBox 16"/>
          <p:cNvSpPr txBox="1"/>
          <p:nvPr/>
        </p:nvSpPr>
        <p:spPr>
          <a:xfrm>
            <a:off x="812800" y="6400800"/>
            <a:ext cx="9144000" cy="167640"/>
          </a:xfrm>
          <a:prstGeom prst="rect">
            <a:avLst/>
          </a:prstGeom>
          <a:noFill/>
        </p:spPr>
        <p:txBody>
          <a:bodyPr wrap="square" lIns="0" rIns="0" tIns="0" bIns="0" anchor="t">
            <a:noAutofit/>
          </a:bodyPr>
          <a:lstStyle/>
          <a:p>
            <a:pPr algn="l">
              <a:lnSpc>
                <a:spcPts val="1320"/>
              </a:lnSpc>
            </a:pPr>
            <a:r>
              <a:rPr sz="1100" b="0">
                <a:solidFill>
                  <a:srgbClr val="6B7280"/>
                </a:solidFill>
                <a:latin typeface="Arial"/>
              </a:rPr>
              <a:t>CS604 · Team 06</a:t>
            </a:r>
          </a:p>
        </p:txBody>
      </p:sp>
      <p:sp>
        <p:nvSpPr>
          <p:cNvPr id="18" name="TextBox 17"/>
          <p:cNvSpPr txBox="1"/>
          <p:nvPr/>
        </p:nvSpPr>
        <p:spPr>
          <a:xfrm>
            <a:off x="10363200" y="6400800"/>
            <a:ext cx="1016000" cy="167640"/>
          </a:xfrm>
          <a:prstGeom prst="rect">
            <a:avLst/>
          </a:prstGeom>
          <a:noFill/>
        </p:spPr>
        <p:txBody>
          <a:bodyPr wrap="square" lIns="0" rIns="0" tIns="0" bIns="0" anchor="t">
            <a:noAutofit/>
          </a:bodyPr>
          <a:lstStyle/>
          <a:p>
            <a:pPr algn="r">
              <a:lnSpc>
                <a:spcPts val="1320"/>
              </a:lnSpc>
            </a:pPr>
            <a:r>
              <a:rPr sz="1100" b="0">
                <a:solidFill>
                  <a:srgbClr val="6B7280"/>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itle 1"/>
          <p:cNvSpPr>
            <a:spLocks noGrp="1"/>
          </p:cNvSpPr>
          <p:nvPr>
            <p:ph type="title"/>
          </p:nvPr>
        </p:nvSpPr>
        <p:spPr>
          <a:xfrm>
            <a:off x="812800" y="889000"/>
            <a:ext cx="10566400" cy="1024128"/>
          </a:xfrm>
        </p:spPr>
        <p:txBody>
          <a:bodyPr wrap="square" lIns="0" rIns="0" tIns="0" bIns="0" anchor="t">
            <a:noAutofit/>
          </a:bodyPr>
          <a:lstStyle/>
          <a:p>
            <a:pPr algn="l">
              <a:lnSpc>
                <a:spcPts val="4032"/>
              </a:lnSpc>
            </a:pPr>
            <a:r>
              <a:rPr sz="3600" b="1">
                <a:solidFill>
                  <a:srgbClr val="15202B"/>
                </a:solidFill>
                <a:latin typeface="Georgia"/>
              </a:rPr>
              <a:t>We first reproduced the reference baselines</a:t>
            </a:r>
          </a:p>
        </p:txBody>
      </p:sp>
      <p:sp>
        <p:nvSpPr>
          <p:cNvPr id="3" name="TextBox 2"/>
          <p:cNvSpPr txBox="1"/>
          <p:nvPr/>
        </p:nvSpPr>
        <p:spPr>
          <a:xfrm>
            <a:off x="812800" y="635000"/>
            <a:ext cx="10566400" cy="182880"/>
          </a:xfrm>
          <a:prstGeom prst="rect">
            <a:avLst/>
          </a:prstGeom>
          <a:noFill/>
        </p:spPr>
        <p:txBody>
          <a:bodyPr wrap="square" lIns="0" rIns="0" tIns="0" bIns="0" anchor="t">
            <a:noAutofit/>
          </a:bodyPr>
          <a:lstStyle/>
          <a:p>
            <a:pPr algn="l">
              <a:lnSpc>
                <a:spcPts val="1439"/>
              </a:lnSpc>
            </a:pPr>
            <a:r>
              <a:rPr sz="1200" b="1" spc="150">
                <a:solidFill>
                  <a:srgbClr val="1F5FAD"/>
                </a:solidFill>
                <a:latin typeface="Arial"/>
              </a:rPr>
              <a:t>STARTING POINT</a:t>
            </a:r>
          </a:p>
        </p:txBody>
      </p:sp>
      <p:graphicFrame>
        <p:nvGraphicFramePr>
          <p:cNvPr id="4" name="Table 3"/>
          <p:cNvGraphicFramePr>
            <a:graphicFrameLocks noGrp="1"/>
          </p:cNvGraphicFramePr>
          <p:nvPr/>
        </p:nvGraphicFramePr>
        <p:xfrm>
          <a:off x="812800" y="2217928"/>
          <a:ext cx="10566400" cy="1384300"/>
        </p:xfrm>
        <a:graphic>
          <a:graphicData uri="http://schemas.openxmlformats.org/drawingml/2006/table">
            <a:tbl>
              <a:tblPr firstRow="1">
                <a:tableStyleId>{5C22544A-7EE6-4342-B048-85BDC9FD1C3A}</a:tableStyleId>
              </a:tblPr>
              <a:tblGrid>
                <a:gridCol w="5080000"/>
                <a:gridCol w="1828800"/>
                <a:gridCol w="1828800"/>
                <a:gridCol w="1828800"/>
              </a:tblGrid>
              <a:tr h="346075">
                <a:tc>
                  <a:txBody>
                    <a:bodyPr/>
                    <a:lstStyle/>
                    <a:p>
                      <a:pPr algn="l">
                        <a:lnSpc>
                          <a:spcPts val="1725"/>
                        </a:lnSpc>
                      </a:pPr>
                      <a:r>
                        <a:rPr sz="1500" b="1">
                          <a:solidFill>
                            <a:srgbClr val="15202B"/>
                          </a:solidFill>
                          <a:latin typeface="Arial"/>
                        </a:rPr>
                        <a:t>Method</a:t>
                      </a:r>
                    </a:p>
                  </a:txBody>
                  <a:tcPr marL="76200" marR="76200" marT="63500" marB="63500" anchor="ctr">
                    <a:solidFill>
                      <a:srgbClr val="E6E2DA"/>
                    </a:solidFill>
                  </a:tcPr>
                </a:tc>
                <a:tc>
                  <a:txBody>
                    <a:bodyPr/>
                    <a:lstStyle/>
                    <a:p>
                      <a:pPr algn="r">
                        <a:lnSpc>
                          <a:spcPts val="1725"/>
                        </a:lnSpc>
                      </a:pPr>
                      <a:r>
                        <a:rPr sz="1500" b="1">
                          <a:solidFill>
                            <a:srgbClr val="15202B"/>
                          </a:solidFill>
                          <a:latin typeface="Arial"/>
                        </a:rPr>
                        <a:t>Trainable params</a:t>
                      </a:r>
                    </a:p>
                  </a:txBody>
                  <a:tcPr marL="76200" marR="76200" marT="63500" marB="63500" anchor="ctr">
                    <a:solidFill>
                      <a:srgbClr val="E6E2DA"/>
                    </a:solidFill>
                  </a:tcPr>
                </a:tc>
                <a:tc>
                  <a:txBody>
                    <a:bodyPr/>
                    <a:lstStyle/>
                    <a:p>
                      <a:pPr algn="r">
                        <a:lnSpc>
                          <a:spcPts val="1725"/>
                        </a:lnSpc>
                      </a:pPr>
                      <a:r>
                        <a:rPr sz="1500" b="1">
                          <a:solidFill>
                            <a:srgbClr val="15202B"/>
                          </a:solidFill>
                          <a:latin typeface="Arial"/>
                        </a:rPr>
                        <a:t>Reference</a:t>
                      </a:r>
                    </a:p>
                  </a:txBody>
                  <a:tcPr marL="76200" marR="76200" marT="63500" marB="63500" anchor="ctr">
                    <a:solidFill>
                      <a:srgbClr val="E6E2DA"/>
                    </a:solidFill>
                  </a:tcPr>
                </a:tc>
                <a:tc>
                  <a:txBody>
                    <a:bodyPr/>
                    <a:lstStyle/>
                    <a:p>
                      <a:pPr algn="r">
                        <a:lnSpc>
                          <a:spcPts val="1725"/>
                        </a:lnSpc>
                      </a:pPr>
                      <a:r>
                        <a:rPr sz="1500" b="1">
                          <a:solidFill>
                            <a:srgbClr val="15202B"/>
                          </a:solidFill>
                          <a:latin typeface="Arial"/>
                        </a:rPr>
                        <a:t>Ours (holdout)</a:t>
                      </a:r>
                    </a:p>
                  </a:txBody>
                  <a:tcPr marL="76200" marR="76200" marT="63500" marB="63500" anchor="ctr">
                    <a:solidFill>
                      <a:srgbClr val="E6E2DA"/>
                    </a:solidFill>
                  </a:tcPr>
                </a:tc>
              </a:tr>
              <a:tr h="346075">
                <a:tc>
                  <a:txBody>
                    <a:bodyPr/>
                    <a:lstStyle/>
                    <a:p>
                      <a:pPr algn="l">
                        <a:lnSpc>
                          <a:spcPts val="1725"/>
                        </a:lnSpc>
                      </a:pPr>
                      <a:r>
                        <a:rPr sz="1500" b="0">
                          <a:solidFill>
                            <a:srgbClr val="15202B"/>
                          </a:solidFill>
                          <a:latin typeface="Arial"/>
                        </a:rPr>
                        <a:t>Zero-shot: prototype head, no training</a:t>
                      </a:r>
                    </a:p>
                  </a:txBody>
                  <a:tcPr marL="76200" marR="76200" marT="63500" marB="63500" anchor="ctr">
                    <a:solidFill>
                      <a:srgbClr val="FFFFFF"/>
                    </a:solidFill>
                  </a:tcPr>
                </a:tc>
                <a:tc>
                  <a:txBody>
                    <a:bodyPr/>
                    <a:lstStyle/>
                    <a:p>
                      <a:pPr algn="r">
                        <a:lnSpc>
                          <a:spcPts val="1725"/>
                        </a:lnSpc>
                      </a:pPr>
                      <a:r>
                        <a:rPr sz="1500" b="0">
                          <a:solidFill>
                            <a:srgbClr val="15202B"/>
                          </a:solidFill>
                          <a:latin typeface="Arial"/>
                        </a:rPr>
                        <a:t>0%</a:t>
                      </a:r>
                    </a:p>
                  </a:txBody>
                  <a:tcPr marL="76200" marR="76200" marT="63500" marB="63500" anchor="ctr">
                    <a:solidFill>
                      <a:srgbClr val="FFFFFF"/>
                    </a:solidFill>
                  </a:tcPr>
                </a:tc>
                <a:tc>
                  <a:txBody>
                    <a:bodyPr/>
                    <a:lstStyle/>
                    <a:p>
                      <a:pPr algn="r">
                        <a:lnSpc>
                          <a:spcPts val="1725"/>
                        </a:lnSpc>
                      </a:pPr>
                      <a:r>
                        <a:rPr sz="1500" b="0">
                          <a:solidFill>
                            <a:srgbClr val="15202B"/>
                          </a:solidFill>
                          <a:latin typeface="Arial"/>
                        </a:rPr>
                        <a:t>43.7%</a:t>
                      </a:r>
                    </a:p>
                  </a:txBody>
                  <a:tcPr marL="76200" marR="76200" marT="63500" marB="63500" anchor="ctr">
                    <a:solidFill>
                      <a:srgbClr val="FFFFFF"/>
                    </a:solidFill>
                  </a:tcPr>
                </a:tc>
                <a:tc>
                  <a:txBody>
                    <a:bodyPr/>
                    <a:lstStyle/>
                    <a:p>
                      <a:pPr algn="r">
                        <a:lnSpc>
                          <a:spcPts val="1725"/>
                        </a:lnSpc>
                      </a:pPr>
                      <a:r>
                        <a:rPr sz="1500" b="0">
                          <a:solidFill>
                            <a:srgbClr val="15202B"/>
                          </a:solidFill>
                          <a:latin typeface="Arial"/>
                        </a:rPr>
                        <a:t>43.95%</a:t>
                      </a:r>
                    </a:p>
                  </a:txBody>
                  <a:tcPr marL="76200" marR="76200" marT="63500" marB="63500" anchor="ctr">
                    <a:solidFill>
                      <a:srgbClr val="FFFFFF"/>
                    </a:solidFill>
                  </a:tcPr>
                </a:tc>
              </a:tr>
              <a:tr h="346075">
                <a:tc>
                  <a:txBody>
                    <a:bodyPr/>
                    <a:lstStyle/>
                    <a:p>
                      <a:pPr algn="l">
                        <a:lnSpc>
                          <a:spcPts val="1725"/>
                        </a:lnSpc>
                      </a:pPr>
                      <a:r>
                        <a:rPr sz="1500" b="0">
                          <a:solidFill>
                            <a:srgbClr val="15202B"/>
                          </a:solidFill>
                          <a:latin typeface="Arial"/>
                        </a:rPr>
                        <a:t>Full fine-tuning, 3 epochs</a:t>
                      </a:r>
                    </a:p>
                  </a:txBody>
                  <a:tcPr marL="76200" marR="76200" marT="63500" marB="63500" anchor="ctr">
                    <a:solidFill>
                      <a:srgbClr val="F4F2EE"/>
                    </a:solidFill>
                  </a:tcPr>
                </a:tc>
                <a:tc>
                  <a:txBody>
                    <a:bodyPr/>
                    <a:lstStyle/>
                    <a:p>
                      <a:pPr algn="r">
                        <a:lnSpc>
                          <a:spcPts val="1725"/>
                        </a:lnSpc>
                      </a:pPr>
                      <a:r>
                        <a:rPr sz="1500" b="0">
                          <a:solidFill>
                            <a:srgbClr val="15202B"/>
                          </a:solidFill>
                          <a:latin typeface="Arial"/>
                        </a:rPr>
                        <a:t>100%</a:t>
                      </a:r>
                    </a:p>
                  </a:txBody>
                  <a:tcPr marL="76200" marR="76200" marT="63500" marB="63500" anchor="ctr">
                    <a:solidFill>
                      <a:srgbClr val="F4F2EE"/>
                    </a:solidFill>
                  </a:tcPr>
                </a:tc>
                <a:tc>
                  <a:txBody>
                    <a:bodyPr/>
                    <a:lstStyle/>
                    <a:p>
                      <a:pPr algn="r">
                        <a:lnSpc>
                          <a:spcPts val="1725"/>
                        </a:lnSpc>
                      </a:pPr>
                      <a:r>
                        <a:rPr sz="1500" b="0">
                          <a:solidFill>
                            <a:srgbClr val="15202B"/>
                          </a:solidFill>
                          <a:latin typeface="Arial"/>
                        </a:rPr>
                        <a:t>70.8%</a:t>
                      </a:r>
                    </a:p>
                  </a:txBody>
                  <a:tcPr marL="76200" marR="76200" marT="63500" marB="63500" anchor="ctr">
                    <a:solidFill>
                      <a:srgbClr val="F4F2EE"/>
                    </a:solidFill>
                  </a:tcPr>
                </a:tc>
                <a:tc>
                  <a:txBody>
                    <a:bodyPr/>
                    <a:lstStyle/>
                    <a:p>
                      <a:pPr algn="r">
                        <a:lnSpc>
                          <a:spcPts val="1725"/>
                        </a:lnSpc>
                      </a:pPr>
                      <a:r>
                        <a:rPr sz="1500" b="0">
                          <a:solidFill>
                            <a:srgbClr val="15202B"/>
                          </a:solidFill>
                          <a:latin typeface="Arial"/>
                        </a:rPr>
                        <a:t>70.88%</a:t>
                      </a:r>
                    </a:p>
                  </a:txBody>
                  <a:tcPr marL="76200" marR="76200" marT="63500" marB="63500" anchor="ctr">
                    <a:solidFill>
                      <a:srgbClr val="F4F2EE"/>
                    </a:solidFill>
                  </a:tcPr>
                </a:tc>
              </a:tr>
              <a:tr h="346075">
                <a:tc>
                  <a:txBody>
                    <a:bodyPr/>
                    <a:lstStyle/>
                    <a:p>
                      <a:pPr algn="l">
                        <a:lnSpc>
                          <a:spcPts val="1725"/>
                        </a:lnSpc>
                      </a:pPr>
                      <a:r>
                        <a:rPr sz="1500" b="0">
                          <a:solidFill>
                            <a:srgbClr val="15202B"/>
                          </a:solidFill>
                          <a:latin typeface="Arial"/>
                        </a:rPr>
                        <a:t>LoRA r = 8 on qkv, 3 epochs</a:t>
                      </a:r>
                    </a:p>
                  </a:txBody>
                  <a:tcPr marL="76200" marR="76200" marT="63500" marB="63500" anchor="ctr">
                    <a:solidFill>
                      <a:srgbClr val="FFFFFF"/>
                    </a:solidFill>
                  </a:tcPr>
                </a:tc>
                <a:tc>
                  <a:txBody>
                    <a:bodyPr/>
                    <a:lstStyle/>
                    <a:p>
                      <a:pPr algn="r">
                        <a:lnSpc>
                          <a:spcPts val="1725"/>
                        </a:lnSpc>
                      </a:pPr>
                      <a:r>
                        <a:rPr sz="1500" b="0">
                          <a:solidFill>
                            <a:srgbClr val="15202B"/>
                          </a:solidFill>
                          <a:latin typeface="Arial"/>
                        </a:rPr>
                        <a:t>0.34%</a:t>
                      </a:r>
                    </a:p>
                  </a:txBody>
                  <a:tcPr marL="76200" marR="76200" marT="63500" marB="63500" anchor="ctr">
                    <a:solidFill>
                      <a:srgbClr val="FFFFFF"/>
                    </a:solidFill>
                  </a:tcPr>
                </a:tc>
                <a:tc>
                  <a:txBody>
                    <a:bodyPr/>
                    <a:lstStyle/>
                    <a:p>
                      <a:pPr algn="r">
                        <a:lnSpc>
                          <a:spcPts val="1725"/>
                        </a:lnSpc>
                      </a:pPr>
                      <a:r>
                        <a:rPr sz="1500" b="0">
                          <a:solidFill>
                            <a:srgbClr val="15202B"/>
                          </a:solidFill>
                          <a:latin typeface="Arial"/>
                        </a:rPr>
                        <a:t>68.3%</a:t>
                      </a:r>
                    </a:p>
                  </a:txBody>
                  <a:tcPr marL="76200" marR="76200" marT="63500" marB="63500" anchor="ctr">
                    <a:solidFill>
                      <a:srgbClr val="FFFFFF"/>
                    </a:solidFill>
                  </a:tcPr>
                </a:tc>
                <a:tc>
                  <a:txBody>
                    <a:bodyPr/>
                    <a:lstStyle/>
                    <a:p>
                      <a:pPr algn="r">
                        <a:lnSpc>
                          <a:spcPts val="1725"/>
                        </a:lnSpc>
                      </a:pPr>
                      <a:r>
                        <a:rPr sz="1500" b="0">
                          <a:solidFill>
                            <a:srgbClr val="15202B"/>
                          </a:solidFill>
                          <a:latin typeface="Arial"/>
                        </a:rPr>
                        <a:t>68.57%</a:t>
                      </a:r>
                    </a:p>
                  </a:txBody>
                  <a:tcPr marL="76200" marR="76200" marT="63500" marB="63500" anchor="ctr">
                    <a:solidFill>
                      <a:srgbClr val="FFFFFF"/>
                    </a:solidFill>
                  </a:tcPr>
                </a:tc>
              </a:tr>
            </a:tbl>
          </a:graphicData>
        </a:graphic>
      </p:graphicFrame>
      <p:sp>
        <p:nvSpPr>
          <p:cNvPr id="5" name="Rounded Rectangle 4"/>
          <p:cNvSpPr/>
          <p:nvPr/>
        </p:nvSpPr>
        <p:spPr>
          <a:xfrm>
            <a:off x="812800" y="3983228"/>
            <a:ext cx="10566400" cy="1228725"/>
          </a:xfrm>
          <a:prstGeom prst="roundRect">
            <a:avLst>
              <a:gd name="adj" fmla="val 10335"/>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1092200" y="4211828"/>
            <a:ext cx="10007600" cy="771525"/>
          </a:xfrm>
          <a:prstGeom prst="rect">
            <a:avLst/>
          </a:prstGeom>
          <a:noFill/>
        </p:spPr>
        <p:txBody>
          <a:bodyPr wrap="square" lIns="0" rIns="0" tIns="0" bIns="0" anchor="t">
            <a:noAutofit/>
          </a:bodyPr>
          <a:lstStyle/>
          <a:p>
            <a:pPr algn="l">
              <a:lnSpc>
                <a:spcPts val="2025"/>
              </a:lnSpc>
            </a:pPr>
            <a:r>
              <a:rPr sz="1500" b="1">
                <a:solidFill>
                  <a:srgbClr val="4A5563"/>
                </a:solidFill>
                <a:latin typeface="Arial"/>
              </a:rPr>
              <a:t>Holdout protocol.</a:t>
            </a:r>
            <a:r>
              <a:rPr sz="1500" b="0">
                <a:solidFill>
                  <a:srgbClr val="4A5563"/>
                </a:solidFill>
                <a:latin typeface="Arial"/>
              </a:rPr>
              <a:t> We set aside 2 training images per class (20,000 images) as a local validation set. It tracks CodaBench val within 0.3 points (72.31% vs 72.57%; 71.98% vs 71.90%), so we judged every ablation on holdout and saved CodaBench submissions.</a:t>
            </a:r>
          </a:p>
        </p:txBody>
      </p:sp>
      <p:sp>
        <p:nvSpPr>
          <p:cNvPr id="7" name="TextBox 6"/>
          <p:cNvSpPr txBox="1"/>
          <p:nvPr/>
        </p:nvSpPr>
        <p:spPr>
          <a:xfrm>
            <a:off x="812800" y="6400800"/>
            <a:ext cx="9144000" cy="167640"/>
          </a:xfrm>
          <a:prstGeom prst="rect">
            <a:avLst/>
          </a:prstGeom>
          <a:noFill/>
        </p:spPr>
        <p:txBody>
          <a:bodyPr wrap="square" lIns="0" rIns="0" tIns="0" bIns="0" anchor="t">
            <a:noAutofit/>
          </a:bodyPr>
          <a:lstStyle/>
          <a:p>
            <a:pPr algn="l">
              <a:lnSpc>
                <a:spcPts val="1320"/>
              </a:lnSpc>
            </a:pPr>
            <a:r>
              <a:rPr sz="1100" b="0">
                <a:solidFill>
                  <a:srgbClr val="6B7280"/>
                </a:solidFill>
                <a:latin typeface="Arial"/>
              </a:rPr>
              <a:t>CS604 · Team 06 · Reference = numbers reported by a PhD student in the project brief</a:t>
            </a:r>
          </a:p>
        </p:txBody>
      </p:sp>
      <p:sp>
        <p:nvSpPr>
          <p:cNvPr id="8" name="TextBox 7"/>
          <p:cNvSpPr txBox="1"/>
          <p:nvPr/>
        </p:nvSpPr>
        <p:spPr>
          <a:xfrm>
            <a:off x="10363200" y="6400800"/>
            <a:ext cx="1016000" cy="167640"/>
          </a:xfrm>
          <a:prstGeom prst="rect">
            <a:avLst/>
          </a:prstGeom>
          <a:noFill/>
        </p:spPr>
        <p:txBody>
          <a:bodyPr wrap="square" lIns="0" rIns="0" tIns="0" bIns="0" anchor="t">
            <a:noAutofit/>
          </a:bodyPr>
          <a:lstStyle/>
          <a:p>
            <a:pPr algn="r">
              <a:lnSpc>
                <a:spcPts val="1320"/>
              </a:lnSpc>
            </a:pPr>
            <a:r>
              <a:rPr sz="1100" b="0">
                <a:solidFill>
                  <a:srgbClr val="6B7280"/>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itle 1"/>
          <p:cNvSpPr>
            <a:spLocks noGrp="1"/>
          </p:cNvSpPr>
          <p:nvPr>
            <p:ph type="title"/>
          </p:nvPr>
        </p:nvSpPr>
        <p:spPr>
          <a:xfrm>
            <a:off x="812800" y="889000"/>
            <a:ext cx="10566400" cy="1024128"/>
          </a:xfrm>
        </p:spPr>
        <p:txBody>
          <a:bodyPr wrap="square" lIns="0" rIns="0" tIns="0" bIns="0" anchor="t">
            <a:noAutofit/>
          </a:bodyPr>
          <a:lstStyle/>
          <a:p>
            <a:pPr algn="l">
              <a:lnSpc>
                <a:spcPts val="4032"/>
              </a:lnSpc>
            </a:pPr>
            <a:r>
              <a:rPr sz="3600" b="1">
                <a:solidFill>
                  <a:srgbClr val="15202B"/>
                </a:solidFill>
                <a:latin typeface="Georgia"/>
              </a:rPr>
              <a:t>Our pipeline: prototype head, fine-tune, flip TTA</a:t>
            </a:r>
          </a:p>
        </p:txBody>
      </p:sp>
      <p:sp>
        <p:nvSpPr>
          <p:cNvPr id="3" name="TextBox 2"/>
          <p:cNvSpPr txBox="1"/>
          <p:nvPr/>
        </p:nvSpPr>
        <p:spPr>
          <a:xfrm>
            <a:off x="812800" y="635000"/>
            <a:ext cx="10566400" cy="182880"/>
          </a:xfrm>
          <a:prstGeom prst="rect">
            <a:avLst/>
          </a:prstGeom>
          <a:noFill/>
        </p:spPr>
        <p:txBody>
          <a:bodyPr wrap="square" lIns="0" rIns="0" tIns="0" bIns="0" anchor="t">
            <a:noAutofit/>
          </a:bodyPr>
          <a:lstStyle/>
          <a:p>
            <a:pPr algn="l">
              <a:lnSpc>
                <a:spcPts val="1439"/>
              </a:lnSpc>
            </a:pPr>
            <a:r>
              <a:rPr sz="1200" b="1" spc="150">
                <a:solidFill>
                  <a:srgbClr val="1F5FAD"/>
                </a:solidFill>
                <a:latin typeface="Arial"/>
              </a:rPr>
              <a:t>OUR METHOD</a:t>
            </a:r>
          </a:p>
        </p:txBody>
      </p:sp>
      <p:sp>
        <p:nvSpPr>
          <p:cNvPr id="4" name="Rounded Rectangle 3"/>
          <p:cNvSpPr/>
          <p:nvPr/>
        </p:nvSpPr>
        <p:spPr>
          <a:xfrm>
            <a:off x="812800" y="2268728"/>
            <a:ext cx="2298700" cy="2390140"/>
          </a:xfrm>
          <a:prstGeom prst="roundRect">
            <a:avLst>
              <a:gd name="adj" fmla="val 5524"/>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Oval 4"/>
          <p:cNvSpPr/>
          <p:nvPr/>
        </p:nvSpPr>
        <p:spPr>
          <a:xfrm>
            <a:off x="1016000" y="2471928"/>
            <a:ext cx="330200" cy="330200"/>
          </a:xfrm>
          <a:prstGeom prst="ellipse">
            <a:avLst/>
          </a:prstGeom>
          <a:solidFill>
            <a:srgbClr val="152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1</a:t>
            </a:r>
          </a:p>
        </p:txBody>
      </p:sp>
      <p:sp>
        <p:nvSpPr>
          <p:cNvPr id="6" name="TextBox 5"/>
          <p:cNvSpPr txBox="1"/>
          <p:nvPr/>
        </p:nvSpPr>
        <p:spPr>
          <a:xfrm>
            <a:off x="1016000" y="2954528"/>
            <a:ext cx="1892300" cy="243840"/>
          </a:xfrm>
          <a:prstGeom prst="rect">
            <a:avLst/>
          </a:prstGeom>
          <a:noFill/>
        </p:spPr>
        <p:txBody>
          <a:bodyPr wrap="square" lIns="0" rIns="0" tIns="0" bIns="0" anchor="t">
            <a:noAutofit/>
          </a:bodyPr>
          <a:lstStyle/>
          <a:p>
            <a:pPr algn="l">
              <a:lnSpc>
                <a:spcPts val="1920"/>
              </a:lnSpc>
            </a:pPr>
            <a:r>
              <a:rPr sz="1600" b="1">
                <a:solidFill>
                  <a:srgbClr val="15202B"/>
                </a:solidFill>
                <a:latin typeface="Arial"/>
              </a:rPr>
              <a:t>Extract features</a:t>
            </a:r>
          </a:p>
        </p:txBody>
      </p:sp>
      <p:sp>
        <p:nvSpPr>
          <p:cNvPr id="7" name="TextBox 6"/>
          <p:cNvSpPr txBox="1"/>
          <p:nvPr/>
        </p:nvSpPr>
        <p:spPr>
          <a:xfrm>
            <a:off x="1016000" y="3299968"/>
            <a:ext cx="1892300" cy="1155700"/>
          </a:xfrm>
          <a:prstGeom prst="rect">
            <a:avLst/>
          </a:prstGeom>
          <a:noFill/>
        </p:spPr>
        <p:txBody>
          <a:bodyPr wrap="square" lIns="0" rIns="0" tIns="0" bIns="0" anchor="t">
            <a:noAutofit/>
          </a:bodyPr>
          <a:lstStyle/>
          <a:p>
            <a:pPr algn="l">
              <a:lnSpc>
                <a:spcPts val="1820"/>
              </a:lnSpc>
            </a:pPr>
            <a:r>
              <a:rPr sz="1400" b="0">
                <a:solidFill>
                  <a:srgbClr val="4A5563"/>
                </a:solidFill>
                <a:latin typeface="Arial"/>
              </a:rPr>
              <a:t>Run the frozen ViT-B/16 once over all training images and keep the 768-d CLS features.</a:t>
            </a:r>
          </a:p>
        </p:txBody>
      </p:sp>
      <p:sp>
        <p:nvSpPr>
          <p:cNvPr id="8" name="Right Arrow 7"/>
          <p:cNvSpPr/>
          <p:nvPr/>
        </p:nvSpPr>
        <p:spPr>
          <a:xfrm>
            <a:off x="3213100" y="3362198"/>
            <a:ext cx="254000" cy="203200"/>
          </a:xfrm>
          <a:prstGeom prst="rightArrow">
            <a:avLst/>
          </a:prstGeom>
          <a:solidFill>
            <a:srgbClr val="9AA1A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ounded Rectangle 8"/>
          <p:cNvSpPr/>
          <p:nvPr/>
        </p:nvSpPr>
        <p:spPr>
          <a:xfrm>
            <a:off x="3568700" y="2268728"/>
            <a:ext cx="2298700" cy="2390140"/>
          </a:xfrm>
          <a:prstGeom prst="roundRect">
            <a:avLst>
              <a:gd name="adj" fmla="val 5524"/>
            </a:avLst>
          </a:prstGeom>
          <a:solidFill>
            <a:srgbClr val="E7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Oval 9"/>
          <p:cNvSpPr/>
          <p:nvPr/>
        </p:nvSpPr>
        <p:spPr>
          <a:xfrm>
            <a:off x="3771900" y="2471928"/>
            <a:ext cx="330200" cy="3302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2</a:t>
            </a:r>
          </a:p>
        </p:txBody>
      </p:sp>
      <p:sp>
        <p:nvSpPr>
          <p:cNvPr id="11" name="TextBox 10"/>
          <p:cNvSpPr txBox="1"/>
          <p:nvPr/>
        </p:nvSpPr>
        <p:spPr>
          <a:xfrm>
            <a:off x="3771900" y="2954528"/>
            <a:ext cx="1892300" cy="243840"/>
          </a:xfrm>
          <a:prstGeom prst="rect">
            <a:avLst/>
          </a:prstGeom>
          <a:noFill/>
        </p:spPr>
        <p:txBody>
          <a:bodyPr wrap="square" lIns="0" rIns="0" tIns="0" bIns="0" anchor="t">
            <a:noAutofit/>
          </a:bodyPr>
          <a:lstStyle/>
          <a:p>
            <a:pPr algn="l">
              <a:lnSpc>
                <a:spcPts val="1920"/>
              </a:lnSpc>
            </a:pPr>
            <a:r>
              <a:rPr sz="1600" b="1">
                <a:solidFill>
                  <a:srgbClr val="15202B"/>
                </a:solidFill>
                <a:latin typeface="Arial"/>
              </a:rPr>
              <a:t>Prototype head</a:t>
            </a:r>
          </a:p>
        </p:txBody>
      </p:sp>
      <p:sp>
        <p:nvSpPr>
          <p:cNvPr id="12" name="TextBox 11"/>
          <p:cNvSpPr txBox="1"/>
          <p:nvPr/>
        </p:nvSpPr>
        <p:spPr>
          <a:xfrm>
            <a:off x="3771900" y="3299968"/>
            <a:ext cx="1892300" cy="1155700"/>
          </a:xfrm>
          <a:prstGeom prst="rect">
            <a:avLst/>
          </a:prstGeom>
          <a:noFill/>
        </p:spPr>
        <p:txBody>
          <a:bodyPr wrap="square" lIns="0" rIns="0" tIns="0" bIns="0" anchor="t">
            <a:noAutofit/>
          </a:bodyPr>
          <a:lstStyle/>
          <a:p>
            <a:pPr algn="l">
              <a:lnSpc>
                <a:spcPts val="1820"/>
              </a:lnSpc>
            </a:pPr>
            <a:r>
              <a:rPr sz="1400" b="0">
                <a:solidFill>
                  <a:srgbClr val="4A5563"/>
                </a:solidFill>
                <a:latin typeface="Arial"/>
              </a:rPr>
              <a:t>Class weight = L2-normalized mean feature of the class × temperature 40. No gradient steps.</a:t>
            </a:r>
          </a:p>
        </p:txBody>
      </p:sp>
      <p:sp>
        <p:nvSpPr>
          <p:cNvPr id="13" name="Right Arrow 12"/>
          <p:cNvSpPr/>
          <p:nvPr/>
        </p:nvSpPr>
        <p:spPr>
          <a:xfrm>
            <a:off x="5969000" y="3362198"/>
            <a:ext cx="254000" cy="203200"/>
          </a:xfrm>
          <a:prstGeom prst="rightArrow">
            <a:avLst/>
          </a:prstGeom>
          <a:solidFill>
            <a:srgbClr val="9AA1A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ounded Rectangle 13"/>
          <p:cNvSpPr/>
          <p:nvPr/>
        </p:nvSpPr>
        <p:spPr>
          <a:xfrm>
            <a:off x="6324600" y="2268728"/>
            <a:ext cx="2298700" cy="2390140"/>
          </a:xfrm>
          <a:prstGeom prst="roundRect">
            <a:avLst>
              <a:gd name="adj" fmla="val 5524"/>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val 14"/>
          <p:cNvSpPr/>
          <p:nvPr/>
        </p:nvSpPr>
        <p:spPr>
          <a:xfrm>
            <a:off x="6527800" y="2471928"/>
            <a:ext cx="330200" cy="330200"/>
          </a:xfrm>
          <a:prstGeom prst="ellipse">
            <a:avLst/>
          </a:prstGeom>
          <a:solidFill>
            <a:srgbClr val="152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3</a:t>
            </a:r>
          </a:p>
        </p:txBody>
      </p:sp>
      <p:sp>
        <p:nvSpPr>
          <p:cNvPr id="16" name="TextBox 15"/>
          <p:cNvSpPr txBox="1"/>
          <p:nvPr/>
        </p:nvSpPr>
        <p:spPr>
          <a:xfrm>
            <a:off x="6527800" y="2954528"/>
            <a:ext cx="1892300" cy="243840"/>
          </a:xfrm>
          <a:prstGeom prst="rect">
            <a:avLst/>
          </a:prstGeom>
          <a:noFill/>
        </p:spPr>
        <p:txBody>
          <a:bodyPr wrap="square" lIns="0" rIns="0" tIns="0" bIns="0" anchor="t">
            <a:noAutofit/>
          </a:bodyPr>
          <a:lstStyle/>
          <a:p>
            <a:pPr algn="l">
              <a:lnSpc>
                <a:spcPts val="1920"/>
              </a:lnSpc>
            </a:pPr>
            <a:r>
              <a:rPr sz="1600" b="1">
                <a:solidFill>
                  <a:srgbClr val="15202B"/>
                </a:solidFill>
                <a:latin typeface="Arial"/>
              </a:rPr>
              <a:t>Fine-tune</a:t>
            </a:r>
          </a:p>
        </p:txBody>
      </p:sp>
      <p:sp>
        <p:nvSpPr>
          <p:cNvPr id="17" name="TextBox 16"/>
          <p:cNvSpPr txBox="1"/>
          <p:nvPr/>
        </p:nvSpPr>
        <p:spPr>
          <a:xfrm>
            <a:off x="6527800" y="3299968"/>
            <a:ext cx="1892300" cy="1155700"/>
          </a:xfrm>
          <a:prstGeom prst="rect">
            <a:avLst/>
          </a:prstGeom>
          <a:noFill/>
        </p:spPr>
        <p:txBody>
          <a:bodyPr wrap="square" lIns="0" rIns="0" tIns="0" bIns="0" anchor="t">
            <a:noAutofit/>
          </a:bodyPr>
          <a:lstStyle/>
          <a:p>
            <a:pPr algn="l">
              <a:lnSpc>
                <a:spcPts val="1820"/>
              </a:lnSpc>
            </a:pPr>
            <a:r>
              <a:rPr sz="1400" b="0">
                <a:solidFill>
                  <a:srgbClr val="4A5563"/>
                </a:solidFill>
                <a:latin typeface="Arial"/>
              </a:rPr>
              <a:t>Full fine-tuning, or LoRA r = 8 on qkv, proj, fc1 and fc2 (1.375% of the backbone).</a:t>
            </a:r>
          </a:p>
        </p:txBody>
      </p:sp>
      <p:sp>
        <p:nvSpPr>
          <p:cNvPr id="18" name="Right Arrow 17"/>
          <p:cNvSpPr/>
          <p:nvPr/>
        </p:nvSpPr>
        <p:spPr>
          <a:xfrm>
            <a:off x="8724900" y="3362198"/>
            <a:ext cx="254000" cy="203200"/>
          </a:xfrm>
          <a:prstGeom prst="rightArrow">
            <a:avLst/>
          </a:prstGeom>
          <a:solidFill>
            <a:srgbClr val="9AA1A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Rounded Rectangle 18"/>
          <p:cNvSpPr/>
          <p:nvPr/>
        </p:nvSpPr>
        <p:spPr>
          <a:xfrm>
            <a:off x="9080500" y="2268728"/>
            <a:ext cx="2298700" cy="2390140"/>
          </a:xfrm>
          <a:prstGeom prst="roundRect">
            <a:avLst>
              <a:gd name="adj" fmla="val 5524"/>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Oval 19"/>
          <p:cNvSpPr/>
          <p:nvPr/>
        </p:nvSpPr>
        <p:spPr>
          <a:xfrm>
            <a:off x="9283700" y="2471928"/>
            <a:ext cx="330200" cy="330200"/>
          </a:xfrm>
          <a:prstGeom prst="ellipse">
            <a:avLst/>
          </a:prstGeom>
          <a:solidFill>
            <a:srgbClr val="1520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Arial"/>
              </a:rPr>
              <a:t>4</a:t>
            </a:r>
          </a:p>
        </p:txBody>
      </p:sp>
      <p:sp>
        <p:nvSpPr>
          <p:cNvPr id="21" name="TextBox 20"/>
          <p:cNvSpPr txBox="1"/>
          <p:nvPr/>
        </p:nvSpPr>
        <p:spPr>
          <a:xfrm>
            <a:off x="9283700" y="2954528"/>
            <a:ext cx="1892300" cy="243840"/>
          </a:xfrm>
          <a:prstGeom prst="rect">
            <a:avLst/>
          </a:prstGeom>
          <a:noFill/>
        </p:spPr>
        <p:txBody>
          <a:bodyPr wrap="square" lIns="0" rIns="0" tIns="0" bIns="0" anchor="t">
            <a:noAutofit/>
          </a:bodyPr>
          <a:lstStyle/>
          <a:p>
            <a:pPr algn="l">
              <a:lnSpc>
                <a:spcPts val="1920"/>
              </a:lnSpc>
            </a:pPr>
            <a:r>
              <a:rPr sz="1600" b="1">
                <a:solidFill>
                  <a:srgbClr val="15202B"/>
                </a:solidFill>
                <a:latin typeface="Arial"/>
              </a:rPr>
              <a:t>Predict</a:t>
            </a:r>
          </a:p>
        </p:txBody>
      </p:sp>
      <p:sp>
        <p:nvSpPr>
          <p:cNvPr id="22" name="TextBox 21"/>
          <p:cNvSpPr txBox="1"/>
          <p:nvPr/>
        </p:nvSpPr>
        <p:spPr>
          <a:xfrm>
            <a:off x="9283700" y="3299968"/>
            <a:ext cx="1892300" cy="1155700"/>
          </a:xfrm>
          <a:prstGeom prst="rect">
            <a:avLst/>
          </a:prstGeom>
          <a:noFill/>
        </p:spPr>
        <p:txBody>
          <a:bodyPr wrap="square" lIns="0" rIns="0" tIns="0" bIns="0" anchor="t">
            <a:noAutofit/>
          </a:bodyPr>
          <a:lstStyle/>
          <a:p>
            <a:pPr algn="l">
              <a:lnSpc>
                <a:spcPts val="1820"/>
              </a:lnSpc>
            </a:pPr>
            <a:r>
              <a:rPr sz="1400" b="0">
                <a:solidFill>
                  <a:srgbClr val="4A5563"/>
                </a:solidFill>
                <a:latin typeface="Arial"/>
              </a:rPr>
              <a:t>Average the logits of each image and its horizontal flip (test-time augmentation).</a:t>
            </a:r>
          </a:p>
        </p:txBody>
      </p:sp>
      <p:sp>
        <p:nvSpPr>
          <p:cNvPr id="23" name="TextBox 22"/>
          <p:cNvSpPr txBox="1"/>
          <p:nvPr/>
        </p:nvSpPr>
        <p:spPr>
          <a:xfrm>
            <a:off x="812800" y="5039868"/>
            <a:ext cx="10566400" cy="514350"/>
          </a:xfrm>
          <a:prstGeom prst="rect">
            <a:avLst/>
          </a:prstGeom>
          <a:noFill/>
        </p:spPr>
        <p:txBody>
          <a:bodyPr wrap="square" lIns="0" rIns="0" tIns="0" bIns="0" anchor="t">
            <a:noAutofit/>
          </a:bodyPr>
          <a:lstStyle/>
          <a:p>
            <a:pPr algn="l">
              <a:lnSpc>
                <a:spcPts val="2025"/>
              </a:lnSpc>
            </a:pPr>
            <a:r>
              <a:rPr sz="1500" b="0">
                <a:solidFill>
                  <a:srgbClr val="4A5563"/>
                </a:solidFill>
                <a:latin typeface="Arial"/>
              </a:rPr>
              <a:t>Every run is budget-aware: after 120 steps the measured speed sets how many steps fit in 1.2 GPU-hours, and the cosine learning-rate schedule is compressed to fit.</a:t>
            </a:r>
          </a:p>
        </p:txBody>
      </p:sp>
      <p:sp>
        <p:nvSpPr>
          <p:cNvPr id="24" name="TextBox 23"/>
          <p:cNvSpPr txBox="1"/>
          <p:nvPr/>
        </p:nvSpPr>
        <p:spPr>
          <a:xfrm>
            <a:off x="812800" y="6400800"/>
            <a:ext cx="9144000" cy="167640"/>
          </a:xfrm>
          <a:prstGeom prst="rect">
            <a:avLst/>
          </a:prstGeom>
          <a:noFill/>
        </p:spPr>
        <p:txBody>
          <a:bodyPr wrap="square" lIns="0" rIns="0" tIns="0" bIns="0" anchor="t">
            <a:noAutofit/>
          </a:bodyPr>
          <a:lstStyle/>
          <a:p>
            <a:pPr algn="l">
              <a:lnSpc>
                <a:spcPts val="1320"/>
              </a:lnSpc>
            </a:pPr>
            <a:r>
              <a:rPr sz="1100" b="0">
                <a:solidFill>
                  <a:srgbClr val="6B7280"/>
                </a:solidFill>
                <a:latin typeface="Arial"/>
              </a:rPr>
              <a:t>CS604 · Team 06</a:t>
            </a:r>
          </a:p>
        </p:txBody>
      </p:sp>
      <p:sp>
        <p:nvSpPr>
          <p:cNvPr id="25" name="TextBox 24"/>
          <p:cNvSpPr txBox="1"/>
          <p:nvPr/>
        </p:nvSpPr>
        <p:spPr>
          <a:xfrm>
            <a:off x="10363200" y="6400800"/>
            <a:ext cx="1016000" cy="167640"/>
          </a:xfrm>
          <a:prstGeom prst="rect">
            <a:avLst/>
          </a:prstGeom>
          <a:noFill/>
        </p:spPr>
        <p:txBody>
          <a:bodyPr wrap="square" lIns="0" rIns="0" tIns="0" bIns="0" anchor="t">
            <a:noAutofit/>
          </a:bodyPr>
          <a:lstStyle/>
          <a:p>
            <a:pPr algn="r">
              <a:lnSpc>
                <a:spcPts val="1320"/>
              </a:lnSpc>
            </a:pPr>
            <a:r>
              <a:rPr sz="1100" b="0">
                <a:solidFill>
                  <a:srgbClr val="6B7280"/>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itle 1"/>
          <p:cNvSpPr>
            <a:spLocks noGrp="1"/>
          </p:cNvSpPr>
          <p:nvPr>
            <p:ph type="title"/>
          </p:nvPr>
        </p:nvSpPr>
        <p:spPr>
          <a:xfrm>
            <a:off x="812800" y="889000"/>
            <a:ext cx="10566400" cy="512064"/>
          </a:xfrm>
        </p:spPr>
        <p:txBody>
          <a:bodyPr wrap="square" lIns="0" rIns="0" tIns="0" bIns="0" anchor="t">
            <a:noAutofit/>
          </a:bodyPr>
          <a:lstStyle/>
          <a:p>
            <a:pPr algn="l">
              <a:lnSpc>
                <a:spcPts val="4032"/>
              </a:lnSpc>
            </a:pPr>
            <a:r>
              <a:rPr sz="3600" b="1">
                <a:solidFill>
                  <a:srgbClr val="15202B"/>
                </a:solidFill>
                <a:latin typeface="Georgia"/>
              </a:rPr>
              <a:t>Three ways to start the 10,000-class head</a:t>
            </a:r>
          </a:p>
        </p:txBody>
      </p:sp>
      <p:sp>
        <p:nvSpPr>
          <p:cNvPr id="3" name="TextBox 2"/>
          <p:cNvSpPr txBox="1"/>
          <p:nvPr/>
        </p:nvSpPr>
        <p:spPr>
          <a:xfrm>
            <a:off x="812800" y="635000"/>
            <a:ext cx="10566400" cy="182880"/>
          </a:xfrm>
          <a:prstGeom prst="rect">
            <a:avLst/>
          </a:prstGeom>
          <a:noFill/>
        </p:spPr>
        <p:txBody>
          <a:bodyPr wrap="square" lIns="0" rIns="0" tIns="0" bIns="0" anchor="t">
            <a:noAutofit/>
          </a:bodyPr>
          <a:lstStyle/>
          <a:p>
            <a:pPr algn="l">
              <a:lnSpc>
                <a:spcPts val="1439"/>
              </a:lnSpc>
            </a:pPr>
            <a:r>
              <a:rPr sz="1200" b="1" spc="150">
                <a:solidFill>
                  <a:srgbClr val="1F5FAD"/>
                </a:solidFill>
                <a:latin typeface="Arial"/>
              </a:rPr>
              <a:t>KEY DESIGN CHOICE</a:t>
            </a:r>
          </a:p>
        </p:txBody>
      </p:sp>
      <p:sp>
        <p:nvSpPr>
          <p:cNvPr id="4" name="Rounded Rectangle 3"/>
          <p:cNvSpPr/>
          <p:nvPr/>
        </p:nvSpPr>
        <p:spPr>
          <a:xfrm>
            <a:off x="812800" y="1731264"/>
            <a:ext cx="3352800" cy="2590800"/>
          </a:xfrm>
          <a:prstGeom prst="roundRect">
            <a:avLst>
              <a:gd name="adj" fmla="val 4901"/>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Oval 4"/>
          <p:cNvSpPr/>
          <p:nvPr/>
        </p:nvSpPr>
        <p:spPr>
          <a:xfrm>
            <a:off x="1041400" y="2018284"/>
            <a:ext cx="127000" cy="127000"/>
          </a:xfrm>
          <a:prstGeom prst="ellipse">
            <a:avLst/>
          </a:prstGeom>
          <a:solidFill>
            <a:srgbClr val="9AA1A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TextBox 5"/>
          <p:cNvSpPr txBox="1"/>
          <p:nvPr/>
        </p:nvSpPr>
        <p:spPr>
          <a:xfrm>
            <a:off x="1244600" y="1959864"/>
            <a:ext cx="2692400" cy="243840"/>
          </a:xfrm>
          <a:prstGeom prst="rect">
            <a:avLst/>
          </a:prstGeom>
          <a:noFill/>
        </p:spPr>
        <p:txBody>
          <a:bodyPr wrap="square" lIns="0" rIns="0" tIns="0" bIns="0" anchor="t">
            <a:noAutofit/>
          </a:bodyPr>
          <a:lstStyle/>
          <a:p>
            <a:pPr algn="l">
              <a:lnSpc>
                <a:spcPts val="1920"/>
              </a:lnSpc>
            </a:pPr>
            <a:r>
              <a:rPr sz="1600" b="1">
                <a:solidFill>
                  <a:srgbClr val="15202B"/>
                </a:solidFill>
                <a:latin typeface="Arial"/>
              </a:rPr>
              <a:t>Random</a:t>
            </a:r>
          </a:p>
        </p:txBody>
      </p:sp>
      <p:sp>
        <p:nvSpPr>
          <p:cNvPr id="7" name="TextBox 6"/>
          <p:cNvSpPr txBox="1"/>
          <p:nvPr/>
        </p:nvSpPr>
        <p:spPr>
          <a:xfrm>
            <a:off x="1041400" y="2330704"/>
            <a:ext cx="2895600" cy="502920"/>
          </a:xfrm>
          <a:prstGeom prst="rect">
            <a:avLst/>
          </a:prstGeom>
          <a:noFill/>
        </p:spPr>
        <p:txBody>
          <a:bodyPr wrap="square" lIns="0" rIns="0" tIns="0" bIns="0" anchor="t">
            <a:noAutofit/>
          </a:bodyPr>
          <a:lstStyle/>
          <a:p>
            <a:pPr algn="l">
              <a:lnSpc>
                <a:spcPts val="3960"/>
              </a:lnSpc>
            </a:pPr>
            <a:r>
              <a:rPr sz="3600" b="1">
                <a:solidFill>
                  <a:srgbClr val="6B7280"/>
                </a:solidFill>
                <a:latin typeface="Georgia"/>
              </a:rPr>
              <a:t>≈ 0%</a:t>
            </a:r>
          </a:p>
        </p:txBody>
      </p:sp>
      <p:sp>
        <p:nvSpPr>
          <p:cNvPr id="8" name="TextBox 7"/>
          <p:cNvSpPr txBox="1"/>
          <p:nvPr/>
        </p:nvSpPr>
        <p:spPr>
          <a:xfrm>
            <a:off x="1041400" y="2859024"/>
            <a:ext cx="2895600" cy="182880"/>
          </a:xfrm>
          <a:prstGeom prst="rect">
            <a:avLst/>
          </a:prstGeom>
          <a:noFill/>
        </p:spPr>
        <p:txBody>
          <a:bodyPr wrap="square" lIns="0" rIns="0" tIns="0" bIns="0" anchor="t">
            <a:noAutofit/>
          </a:bodyPr>
          <a:lstStyle/>
          <a:p>
            <a:pPr algn="l">
              <a:lnSpc>
                <a:spcPts val="1439"/>
              </a:lnSpc>
            </a:pPr>
            <a:r>
              <a:rPr sz="1200" b="0">
                <a:solidFill>
                  <a:srgbClr val="6B7280"/>
                </a:solidFill>
                <a:latin typeface="Arial"/>
              </a:rPr>
              <a:t>head-only accuracy before training</a:t>
            </a:r>
          </a:p>
        </p:txBody>
      </p:sp>
      <p:sp>
        <p:nvSpPr>
          <p:cNvPr id="9" name="TextBox 8"/>
          <p:cNvSpPr txBox="1"/>
          <p:nvPr/>
        </p:nvSpPr>
        <p:spPr>
          <a:xfrm>
            <a:off x="1041400" y="3168904"/>
            <a:ext cx="2895600" cy="693420"/>
          </a:xfrm>
          <a:prstGeom prst="rect">
            <a:avLst/>
          </a:prstGeom>
          <a:noFill/>
        </p:spPr>
        <p:txBody>
          <a:bodyPr wrap="square" lIns="0" rIns="0" tIns="0" bIns="0" anchor="t">
            <a:noAutofit/>
          </a:bodyPr>
          <a:lstStyle/>
          <a:p>
            <a:pPr algn="l">
              <a:lnSpc>
                <a:spcPts val="1820"/>
              </a:lnSpc>
            </a:pPr>
            <a:r>
              <a:rPr sz="1400" b="0">
                <a:solidFill>
                  <a:srgbClr val="4A5563"/>
                </a:solidFill>
                <a:latin typeface="Arial"/>
              </a:rPr>
              <a:t>Small random weights (the timm default). The head starts with no class knowledge.</a:t>
            </a:r>
          </a:p>
        </p:txBody>
      </p:sp>
      <p:sp>
        <p:nvSpPr>
          <p:cNvPr id="10" name="Rounded Rectangle 9"/>
          <p:cNvSpPr/>
          <p:nvPr/>
        </p:nvSpPr>
        <p:spPr>
          <a:xfrm>
            <a:off x="4419600" y="1731264"/>
            <a:ext cx="3352800" cy="2590800"/>
          </a:xfrm>
          <a:prstGeom prst="roundRect">
            <a:avLst>
              <a:gd name="adj" fmla="val 4901"/>
            </a:avLst>
          </a:prstGeom>
          <a:solidFill>
            <a:srgbClr val="E7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Oval 10"/>
          <p:cNvSpPr/>
          <p:nvPr/>
        </p:nvSpPr>
        <p:spPr>
          <a:xfrm>
            <a:off x="4648200" y="2018284"/>
            <a:ext cx="127000" cy="1270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xtBox 11"/>
          <p:cNvSpPr txBox="1"/>
          <p:nvPr/>
        </p:nvSpPr>
        <p:spPr>
          <a:xfrm>
            <a:off x="4851400" y="1959864"/>
            <a:ext cx="2692400" cy="243840"/>
          </a:xfrm>
          <a:prstGeom prst="rect">
            <a:avLst/>
          </a:prstGeom>
          <a:noFill/>
        </p:spPr>
        <p:txBody>
          <a:bodyPr wrap="square" lIns="0" rIns="0" tIns="0" bIns="0" anchor="t">
            <a:noAutofit/>
          </a:bodyPr>
          <a:lstStyle/>
          <a:p>
            <a:pPr algn="l">
              <a:lnSpc>
                <a:spcPts val="1920"/>
              </a:lnSpc>
            </a:pPr>
            <a:r>
              <a:rPr sz="1600" b="1">
                <a:solidFill>
                  <a:srgbClr val="15202B"/>
                </a:solidFill>
                <a:latin typeface="Arial"/>
              </a:rPr>
              <a:t>Prototype (ours)</a:t>
            </a:r>
          </a:p>
        </p:txBody>
      </p:sp>
      <p:sp>
        <p:nvSpPr>
          <p:cNvPr id="13" name="TextBox 12"/>
          <p:cNvSpPr txBox="1"/>
          <p:nvPr/>
        </p:nvSpPr>
        <p:spPr>
          <a:xfrm>
            <a:off x="4648200" y="2330704"/>
            <a:ext cx="2895600" cy="502920"/>
          </a:xfrm>
          <a:prstGeom prst="rect">
            <a:avLst/>
          </a:prstGeom>
          <a:noFill/>
        </p:spPr>
        <p:txBody>
          <a:bodyPr wrap="square" lIns="0" rIns="0" tIns="0" bIns="0" anchor="t">
            <a:noAutofit/>
          </a:bodyPr>
          <a:lstStyle/>
          <a:p>
            <a:pPr algn="l">
              <a:lnSpc>
                <a:spcPts val="3960"/>
              </a:lnSpc>
            </a:pPr>
            <a:r>
              <a:rPr sz="3600" b="1">
                <a:solidFill>
                  <a:srgbClr val="2A78D6"/>
                </a:solidFill>
                <a:latin typeface="Georgia"/>
              </a:rPr>
              <a:t>44.0%</a:t>
            </a:r>
          </a:p>
        </p:txBody>
      </p:sp>
      <p:sp>
        <p:nvSpPr>
          <p:cNvPr id="14" name="TextBox 13"/>
          <p:cNvSpPr txBox="1"/>
          <p:nvPr/>
        </p:nvSpPr>
        <p:spPr>
          <a:xfrm>
            <a:off x="4648200" y="2859024"/>
            <a:ext cx="2895600" cy="182880"/>
          </a:xfrm>
          <a:prstGeom prst="rect">
            <a:avLst/>
          </a:prstGeom>
          <a:noFill/>
        </p:spPr>
        <p:txBody>
          <a:bodyPr wrap="square" lIns="0" rIns="0" tIns="0" bIns="0" anchor="t">
            <a:noAutofit/>
          </a:bodyPr>
          <a:lstStyle/>
          <a:p>
            <a:pPr algn="l">
              <a:lnSpc>
                <a:spcPts val="1439"/>
              </a:lnSpc>
            </a:pPr>
            <a:r>
              <a:rPr sz="1200" b="0">
                <a:solidFill>
                  <a:srgbClr val="6B7280"/>
                </a:solidFill>
                <a:latin typeface="Arial"/>
              </a:rPr>
              <a:t>head-only accuracy before training</a:t>
            </a:r>
          </a:p>
        </p:txBody>
      </p:sp>
      <p:sp>
        <p:nvSpPr>
          <p:cNvPr id="15" name="TextBox 14"/>
          <p:cNvSpPr txBox="1"/>
          <p:nvPr/>
        </p:nvSpPr>
        <p:spPr>
          <a:xfrm>
            <a:off x="4648200" y="3168904"/>
            <a:ext cx="2895600" cy="693420"/>
          </a:xfrm>
          <a:prstGeom prst="rect">
            <a:avLst/>
          </a:prstGeom>
          <a:noFill/>
        </p:spPr>
        <p:txBody>
          <a:bodyPr wrap="square" lIns="0" rIns="0" tIns="0" bIns="0" anchor="t">
            <a:noAutofit/>
          </a:bodyPr>
          <a:lstStyle/>
          <a:p>
            <a:pPr algn="l">
              <a:lnSpc>
                <a:spcPts val="1820"/>
              </a:lnSpc>
            </a:pPr>
            <a:r>
              <a:rPr sz="1400" b="0">
                <a:solidFill>
                  <a:srgbClr val="4A5563"/>
                </a:solidFill>
                <a:latin typeface="Arial"/>
              </a:rPr>
              <a:t>Normalized class-mean features × temperature. No training, about 6 minutes of feature extraction.</a:t>
            </a:r>
          </a:p>
        </p:txBody>
      </p:sp>
      <p:sp>
        <p:nvSpPr>
          <p:cNvPr id="16" name="Rounded Rectangle 15"/>
          <p:cNvSpPr/>
          <p:nvPr/>
        </p:nvSpPr>
        <p:spPr>
          <a:xfrm>
            <a:off x="8026400" y="1731264"/>
            <a:ext cx="3352800" cy="2590800"/>
          </a:xfrm>
          <a:prstGeom prst="roundRect">
            <a:avLst>
              <a:gd name="adj" fmla="val 4901"/>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Oval 16"/>
          <p:cNvSpPr/>
          <p:nvPr/>
        </p:nvSpPr>
        <p:spPr>
          <a:xfrm>
            <a:off x="8255000" y="2018284"/>
            <a:ext cx="127000" cy="1270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xtBox 17"/>
          <p:cNvSpPr txBox="1"/>
          <p:nvPr/>
        </p:nvSpPr>
        <p:spPr>
          <a:xfrm>
            <a:off x="8458200" y="1959864"/>
            <a:ext cx="2692400" cy="243840"/>
          </a:xfrm>
          <a:prstGeom prst="rect">
            <a:avLst/>
          </a:prstGeom>
          <a:noFill/>
        </p:spPr>
        <p:txBody>
          <a:bodyPr wrap="square" lIns="0" rIns="0" tIns="0" bIns="0" anchor="t">
            <a:noAutofit/>
          </a:bodyPr>
          <a:lstStyle/>
          <a:p>
            <a:pPr algn="l">
              <a:lnSpc>
                <a:spcPts val="1920"/>
              </a:lnSpc>
            </a:pPr>
            <a:r>
              <a:rPr sz="1600" b="1">
                <a:solidFill>
                  <a:srgbClr val="15202B"/>
                </a:solidFill>
                <a:latin typeface="Arial"/>
              </a:rPr>
              <a:t>Linear probe</a:t>
            </a:r>
          </a:p>
        </p:txBody>
      </p:sp>
      <p:sp>
        <p:nvSpPr>
          <p:cNvPr id="19" name="TextBox 18"/>
          <p:cNvSpPr txBox="1"/>
          <p:nvPr/>
        </p:nvSpPr>
        <p:spPr>
          <a:xfrm>
            <a:off x="8255000" y="2330704"/>
            <a:ext cx="2895600" cy="502920"/>
          </a:xfrm>
          <a:prstGeom prst="rect">
            <a:avLst/>
          </a:prstGeom>
          <a:noFill/>
        </p:spPr>
        <p:txBody>
          <a:bodyPr wrap="square" lIns="0" rIns="0" tIns="0" bIns="0" anchor="t">
            <a:noAutofit/>
          </a:bodyPr>
          <a:lstStyle/>
          <a:p>
            <a:pPr algn="l">
              <a:lnSpc>
                <a:spcPts val="3960"/>
              </a:lnSpc>
            </a:pPr>
            <a:r>
              <a:rPr sz="3600" b="1">
                <a:solidFill>
                  <a:srgbClr val="C2531F"/>
                </a:solidFill>
                <a:latin typeface="Georgia"/>
              </a:rPr>
              <a:t>62.1%</a:t>
            </a:r>
          </a:p>
        </p:txBody>
      </p:sp>
      <p:sp>
        <p:nvSpPr>
          <p:cNvPr id="20" name="TextBox 19"/>
          <p:cNvSpPr txBox="1"/>
          <p:nvPr/>
        </p:nvSpPr>
        <p:spPr>
          <a:xfrm>
            <a:off x="8255000" y="2859024"/>
            <a:ext cx="2895600" cy="182880"/>
          </a:xfrm>
          <a:prstGeom prst="rect">
            <a:avLst/>
          </a:prstGeom>
          <a:noFill/>
        </p:spPr>
        <p:txBody>
          <a:bodyPr wrap="square" lIns="0" rIns="0" tIns="0" bIns="0" anchor="t">
            <a:noAutofit/>
          </a:bodyPr>
          <a:lstStyle/>
          <a:p>
            <a:pPr algn="l">
              <a:lnSpc>
                <a:spcPts val="1439"/>
              </a:lnSpc>
            </a:pPr>
            <a:r>
              <a:rPr sz="1200" b="0">
                <a:solidFill>
                  <a:srgbClr val="6B7280"/>
                </a:solidFill>
                <a:latin typeface="Arial"/>
              </a:rPr>
              <a:t>head-only accuracy before training</a:t>
            </a:r>
          </a:p>
        </p:txBody>
      </p:sp>
      <p:sp>
        <p:nvSpPr>
          <p:cNvPr id="21" name="TextBox 20"/>
          <p:cNvSpPr txBox="1"/>
          <p:nvPr/>
        </p:nvSpPr>
        <p:spPr>
          <a:xfrm>
            <a:off x="8255000" y="3168904"/>
            <a:ext cx="2895600" cy="924560"/>
          </a:xfrm>
          <a:prstGeom prst="rect">
            <a:avLst/>
          </a:prstGeom>
          <a:noFill/>
        </p:spPr>
        <p:txBody>
          <a:bodyPr wrap="square" lIns="0" rIns="0" tIns="0" bIns="0" anchor="t">
            <a:noAutofit/>
          </a:bodyPr>
          <a:lstStyle/>
          <a:p>
            <a:pPr algn="l">
              <a:lnSpc>
                <a:spcPts val="1820"/>
              </a:lnSpc>
            </a:pPr>
            <a:r>
              <a:rPr sz="1400" b="0">
                <a:solidFill>
                  <a:srgbClr val="4A5563"/>
                </a:solidFill>
                <a:latin typeface="Arial"/>
              </a:rPr>
              <a:t>The prototype head, then 10 epochs of training on the frozen features of the same training images.</a:t>
            </a:r>
          </a:p>
        </p:txBody>
      </p:sp>
      <p:sp>
        <p:nvSpPr>
          <p:cNvPr id="22" name="TextBox 21"/>
          <p:cNvSpPr txBox="1"/>
          <p:nvPr/>
        </p:nvSpPr>
        <p:spPr>
          <a:xfrm>
            <a:off x="812800" y="4703064"/>
            <a:ext cx="10566400" cy="291465"/>
          </a:xfrm>
          <a:prstGeom prst="rect">
            <a:avLst/>
          </a:prstGeom>
          <a:noFill/>
        </p:spPr>
        <p:txBody>
          <a:bodyPr wrap="square" lIns="0" rIns="0" tIns="0" bIns="0" anchor="t">
            <a:noAutofit/>
          </a:bodyPr>
          <a:lstStyle/>
          <a:p>
            <a:pPr algn="l">
              <a:lnSpc>
                <a:spcPts val="2295"/>
              </a:lnSpc>
            </a:pPr>
            <a:r>
              <a:rPr sz="1700" b="0">
                <a:solidFill>
                  <a:srgbClr val="15202B"/>
                </a:solidFill>
                <a:latin typeface="Arial"/>
              </a:rPr>
              <a:t>Intuition says: start from the strongest head, the linear probe. </a:t>
            </a:r>
            <a:r>
              <a:rPr sz="1700" b="1">
                <a:solidFill>
                  <a:srgbClr val="15202B"/>
                </a:solidFill>
                <a:latin typeface="Arial"/>
              </a:rPr>
              <a:t>The experiments say otherwise.</a:t>
            </a:r>
          </a:p>
        </p:txBody>
      </p:sp>
      <p:sp>
        <p:nvSpPr>
          <p:cNvPr id="23" name="TextBox 22"/>
          <p:cNvSpPr txBox="1"/>
          <p:nvPr/>
        </p:nvSpPr>
        <p:spPr>
          <a:xfrm>
            <a:off x="812800" y="6400800"/>
            <a:ext cx="9144000" cy="167640"/>
          </a:xfrm>
          <a:prstGeom prst="rect">
            <a:avLst/>
          </a:prstGeom>
          <a:noFill/>
        </p:spPr>
        <p:txBody>
          <a:bodyPr wrap="square" lIns="0" rIns="0" tIns="0" bIns="0" anchor="t">
            <a:noAutofit/>
          </a:bodyPr>
          <a:lstStyle/>
          <a:p>
            <a:pPr algn="l">
              <a:lnSpc>
                <a:spcPts val="1320"/>
              </a:lnSpc>
            </a:pPr>
            <a:r>
              <a:rPr sz="1100" b="0">
                <a:solidFill>
                  <a:srgbClr val="6B7280"/>
                </a:solidFill>
                <a:latin typeface="Arial"/>
              </a:rPr>
              <a:t>CS604 · Team 06</a:t>
            </a:r>
          </a:p>
        </p:txBody>
      </p:sp>
      <p:sp>
        <p:nvSpPr>
          <p:cNvPr id="24" name="TextBox 23"/>
          <p:cNvSpPr txBox="1"/>
          <p:nvPr/>
        </p:nvSpPr>
        <p:spPr>
          <a:xfrm>
            <a:off x="10363200" y="6400800"/>
            <a:ext cx="1016000" cy="167640"/>
          </a:xfrm>
          <a:prstGeom prst="rect">
            <a:avLst/>
          </a:prstGeom>
          <a:noFill/>
        </p:spPr>
        <p:txBody>
          <a:bodyPr wrap="square" lIns="0" rIns="0" tIns="0" bIns="0" anchor="t">
            <a:noAutofit/>
          </a:bodyPr>
          <a:lstStyle/>
          <a:p>
            <a:pPr algn="r">
              <a:lnSpc>
                <a:spcPts val="1320"/>
              </a:lnSpc>
            </a:pPr>
            <a:r>
              <a:rPr sz="1100" b="0">
                <a:solidFill>
                  <a:srgbClr val="6B7280"/>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itle 1"/>
          <p:cNvSpPr>
            <a:spLocks noGrp="1"/>
          </p:cNvSpPr>
          <p:nvPr>
            <p:ph type="title"/>
          </p:nvPr>
        </p:nvSpPr>
        <p:spPr>
          <a:xfrm>
            <a:off x="812800" y="889000"/>
            <a:ext cx="10566400" cy="1024128"/>
          </a:xfrm>
        </p:spPr>
        <p:txBody>
          <a:bodyPr wrap="square" lIns="0" rIns="0" tIns="0" bIns="0" anchor="t">
            <a:noAutofit/>
          </a:bodyPr>
          <a:lstStyle/>
          <a:p>
            <a:pPr algn="l">
              <a:lnSpc>
                <a:spcPts val="4032"/>
              </a:lnSpc>
            </a:pPr>
            <a:r>
              <a:rPr sz="3600" b="1">
                <a:solidFill>
                  <a:srgbClr val="15202B"/>
                </a:solidFill>
                <a:latin typeface="Georgia"/>
              </a:rPr>
              <a:t>Prototype heads beat linear-probe heads by 2.5 to 3.1 points</a:t>
            </a:r>
          </a:p>
        </p:txBody>
      </p:sp>
      <p:sp>
        <p:nvSpPr>
          <p:cNvPr id="3" name="TextBox 2"/>
          <p:cNvSpPr txBox="1"/>
          <p:nvPr/>
        </p:nvSpPr>
        <p:spPr>
          <a:xfrm>
            <a:off x="812800" y="635000"/>
            <a:ext cx="10566400" cy="182880"/>
          </a:xfrm>
          <a:prstGeom prst="rect">
            <a:avLst/>
          </a:prstGeom>
          <a:noFill/>
        </p:spPr>
        <p:txBody>
          <a:bodyPr wrap="square" lIns="0" rIns="0" tIns="0" bIns="0" anchor="t">
            <a:noAutofit/>
          </a:bodyPr>
          <a:lstStyle/>
          <a:p>
            <a:pPr algn="l">
              <a:lnSpc>
                <a:spcPts val="1439"/>
              </a:lnSpc>
            </a:pPr>
            <a:r>
              <a:rPr sz="1200" b="1" spc="150">
                <a:solidFill>
                  <a:srgbClr val="1F5FAD"/>
                </a:solidFill>
                <a:latin typeface="Arial"/>
              </a:rPr>
              <a:t>FINDING 1</a:t>
            </a:r>
          </a:p>
        </p:txBody>
      </p:sp>
      <p:sp>
        <p:nvSpPr>
          <p:cNvPr id="4" name="Rounded Rectangle 3"/>
          <p:cNvSpPr/>
          <p:nvPr/>
        </p:nvSpPr>
        <p:spPr>
          <a:xfrm>
            <a:off x="812800" y="2243328"/>
            <a:ext cx="3352800" cy="2213610"/>
          </a:xfrm>
          <a:prstGeom prst="roundRect">
            <a:avLst>
              <a:gd name="adj" fmla="val 5737"/>
            </a:avLst>
          </a:prstGeom>
          <a:solidFill>
            <a:srgbClr val="E7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1041400" y="2471928"/>
            <a:ext cx="2895600" cy="640080"/>
          </a:xfrm>
          <a:prstGeom prst="rect">
            <a:avLst/>
          </a:prstGeom>
          <a:noFill/>
        </p:spPr>
        <p:txBody>
          <a:bodyPr wrap="square" lIns="0" rIns="0" tIns="0" bIns="0" anchor="t">
            <a:noAutofit/>
          </a:bodyPr>
          <a:lstStyle/>
          <a:p>
            <a:pPr algn="l">
              <a:lnSpc>
                <a:spcPts val="5040"/>
              </a:lnSpc>
            </a:pPr>
            <a:r>
              <a:rPr sz="4800" b="1">
                <a:solidFill>
                  <a:srgbClr val="2A78D6"/>
                </a:solidFill>
                <a:latin typeface="Georgia"/>
              </a:rPr>
              <a:t>+2.5</a:t>
            </a:r>
          </a:p>
        </p:txBody>
      </p:sp>
      <p:sp>
        <p:nvSpPr>
          <p:cNvPr id="6" name="TextBox 5"/>
          <p:cNvSpPr txBox="1"/>
          <p:nvPr/>
        </p:nvSpPr>
        <p:spPr>
          <a:xfrm>
            <a:off x="1041400" y="3213608"/>
            <a:ext cx="2895600" cy="238125"/>
          </a:xfrm>
          <a:prstGeom prst="rect">
            <a:avLst/>
          </a:prstGeom>
          <a:noFill/>
        </p:spPr>
        <p:txBody>
          <a:bodyPr wrap="square" lIns="0" rIns="0" tIns="0" bIns="0" anchor="t">
            <a:noAutofit/>
          </a:bodyPr>
          <a:lstStyle/>
          <a:p>
            <a:pPr algn="l">
              <a:lnSpc>
                <a:spcPts val="1875"/>
              </a:lnSpc>
            </a:pPr>
            <a:r>
              <a:rPr sz="1500" b="1">
                <a:solidFill>
                  <a:srgbClr val="15202B"/>
                </a:solidFill>
                <a:latin typeface="Arial"/>
              </a:rPr>
              <a:t>Full fine-tuning, 3 epochs</a:t>
            </a:r>
          </a:p>
        </p:txBody>
      </p:sp>
      <p:sp>
        <p:nvSpPr>
          <p:cNvPr id="7" name="TextBox 6"/>
          <p:cNvSpPr txBox="1"/>
          <p:nvPr/>
        </p:nvSpPr>
        <p:spPr>
          <a:xfrm>
            <a:off x="1041400" y="3527933"/>
            <a:ext cx="2895600" cy="462280"/>
          </a:xfrm>
          <a:prstGeom prst="rect">
            <a:avLst/>
          </a:prstGeom>
          <a:noFill/>
        </p:spPr>
        <p:txBody>
          <a:bodyPr wrap="square" lIns="0" rIns="0" tIns="0" bIns="0" anchor="t">
            <a:noAutofit/>
          </a:bodyPr>
          <a:lstStyle/>
          <a:p>
            <a:pPr algn="l">
              <a:lnSpc>
                <a:spcPts val="1820"/>
              </a:lnSpc>
            </a:pPr>
            <a:r>
              <a:rPr sz="1400" b="0">
                <a:solidFill>
                  <a:srgbClr val="4A5563"/>
                </a:solidFill>
                <a:latin typeface="Arial"/>
              </a:rPr>
              <a:t>lp 70.88% → proto 73.38% (holdout)</a:t>
            </a:r>
          </a:p>
        </p:txBody>
      </p:sp>
      <p:sp>
        <p:nvSpPr>
          <p:cNvPr id="8" name="Rounded Rectangle 7"/>
          <p:cNvSpPr/>
          <p:nvPr/>
        </p:nvSpPr>
        <p:spPr>
          <a:xfrm>
            <a:off x="4419600" y="2243328"/>
            <a:ext cx="3352800" cy="2213610"/>
          </a:xfrm>
          <a:prstGeom prst="roundRect">
            <a:avLst>
              <a:gd name="adj" fmla="val 5737"/>
            </a:avLst>
          </a:prstGeom>
          <a:solidFill>
            <a:srgbClr val="E7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4648200" y="2471928"/>
            <a:ext cx="2895600" cy="640080"/>
          </a:xfrm>
          <a:prstGeom prst="rect">
            <a:avLst/>
          </a:prstGeom>
          <a:noFill/>
        </p:spPr>
        <p:txBody>
          <a:bodyPr wrap="square" lIns="0" rIns="0" tIns="0" bIns="0" anchor="t">
            <a:noAutofit/>
          </a:bodyPr>
          <a:lstStyle/>
          <a:p>
            <a:pPr algn="l">
              <a:lnSpc>
                <a:spcPts val="5040"/>
              </a:lnSpc>
            </a:pPr>
            <a:r>
              <a:rPr sz="4800" b="1">
                <a:solidFill>
                  <a:srgbClr val="2A78D6"/>
                </a:solidFill>
                <a:latin typeface="Georgia"/>
              </a:rPr>
              <a:t>+2.5</a:t>
            </a:r>
          </a:p>
        </p:txBody>
      </p:sp>
      <p:sp>
        <p:nvSpPr>
          <p:cNvPr id="10" name="TextBox 9"/>
          <p:cNvSpPr txBox="1"/>
          <p:nvPr/>
        </p:nvSpPr>
        <p:spPr>
          <a:xfrm>
            <a:off x="4648200" y="3213608"/>
            <a:ext cx="2895600" cy="476250"/>
          </a:xfrm>
          <a:prstGeom prst="rect">
            <a:avLst/>
          </a:prstGeom>
          <a:noFill/>
        </p:spPr>
        <p:txBody>
          <a:bodyPr wrap="square" lIns="0" rIns="0" tIns="0" bIns="0" anchor="t">
            <a:noAutofit/>
          </a:bodyPr>
          <a:lstStyle/>
          <a:p>
            <a:pPr algn="l">
              <a:lnSpc>
                <a:spcPts val="1875"/>
              </a:lnSpc>
            </a:pPr>
            <a:r>
              <a:rPr sz="1500" b="1">
                <a:solidFill>
                  <a:srgbClr val="15202B"/>
                </a:solidFill>
                <a:latin typeface="Arial"/>
              </a:rPr>
              <a:t>LoRA on all linear layers, 3 epochs</a:t>
            </a:r>
          </a:p>
        </p:txBody>
      </p:sp>
      <p:sp>
        <p:nvSpPr>
          <p:cNvPr id="11" name="TextBox 10"/>
          <p:cNvSpPr txBox="1"/>
          <p:nvPr/>
        </p:nvSpPr>
        <p:spPr>
          <a:xfrm>
            <a:off x="4648200" y="3766058"/>
            <a:ext cx="2895600" cy="462280"/>
          </a:xfrm>
          <a:prstGeom prst="rect">
            <a:avLst/>
          </a:prstGeom>
          <a:noFill/>
        </p:spPr>
        <p:txBody>
          <a:bodyPr wrap="square" lIns="0" rIns="0" tIns="0" bIns="0" anchor="t">
            <a:noAutofit/>
          </a:bodyPr>
          <a:lstStyle/>
          <a:p>
            <a:pPr algn="l">
              <a:lnSpc>
                <a:spcPts val="1820"/>
              </a:lnSpc>
            </a:pPr>
            <a:r>
              <a:rPr sz="1400" b="0">
                <a:solidFill>
                  <a:srgbClr val="4A5563"/>
                </a:solidFill>
                <a:latin typeface="Arial"/>
              </a:rPr>
              <a:t>lp 69.45% → proto 71.98% (holdout)</a:t>
            </a:r>
          </a:p>
        </p:txBody>
      </p:sp>
      <p:sp>
        <p:nvSpPr>
          <p:cNvPr id="12" name="Rounded Rectangle 11"/>
          <p:cNvSpPr/>
          <p:nvPr/>
        </p:nvSpPr>
        <p:spPr>
          <a:xfrm>
            <a:off x="8026400" y="2243328"/>
            <a:ext cx="3352800" cy="2213610"/>
          </a:xfrm>
          <a:prstGeom prst="roundRect">
            <a:avLst>
              <a:gd name="adj" fmla="val 5737"/>
            </a:avLst>
          </a:prstGeom>
          <a:solidFill>
            <a:srgbClr val="E7F0F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8255000" y="2471928"/>
            <a:ext cx="2895600" cy="640080"/>
          </a:xfrm>
          <a:prstGeom prst="rect">
            <a:avLst/>
          </a:prstGeom>
          <a:noFill/>
        </p:spPr>
        <p:txBody>
          <a:bodyPr wrap="square" lIns="0" rIns="0" tIns="0" bIns="0" anchor="t">
            <a:noAutofit/>
          </a:bodyPr>
          <a:lstStyle/>
          <a:p>
            <a:pPr algn="l">
              <a:lnSpc>
                <a:spcPts val="5040"/>
              </a:lnSpc>
            </a:pPr>
            <a:r>
              <a:rPr sz="4800" b="1">
                <a:solidFill>
                  <a:srgbClr val="2A78D6"/>
                </a:solidFill>
                <a:latin typeface="Georgia"/>
              </a:rPr>
              <a:t>+3.1</a:t>
            </a:r>
          </a:p>
        </p:txBody>
      </p:sp>
      <p:sp>
        <p:nvSpPr>
          <p:cNvPr id="14" name="TextBox 13"/>
          <p:cNvSpPr txBox="1"/>
          <p:nvPr/>
        </p:nvSpPr>
        <p:spPr>
          <a:xfrm>
            <a:off x="8255000" y="3213608"/>
            <a:ext cx="2895600" cy="476250"/>
          </a:xfrm>
          <a:prstGeom prst="rect">
            <a:avLst/>
          </a:prstGeom>
          <a:noFill/>
        </p:spPr>
        <p:txBody>
          <a:bodyPr wrap="square" lIns="0" rIns="0" tIns="0" bIns="0" anchor="t">
            <a:noAutofit/>
          </a:bodyPr>
          <a:lstStyle/>
          <a:p>
            <a:pPr algn="l">
              <a:lnSpc>
                <a:spcPts val="1875"/>
              </a:lnSpc>
            </a:pPr>
            <a:r>
              <a:rPr sz="1500" b="1">
                <a:solidFill>
                  <a:srgbClr val="15202B"/>
                </a:solidFill>
                <a:latin typeface="Arial"/>
              </a:rPr>
              <a:t>Full fine-tuning, 8 epochs, all data, flip TTA</a:t>
            </a:r>
          </a:p>
        </p:txBody>
      </p:sp>
      <p:sp>
        <p:nvSpPr>
          <p:cNvPr id="15" name="TextBox 14"/>
          <p:cNvSpPr txBox="1"/>
          <p:nvPr/>
        </p:nvSpPr>
        <p:spPr>
          <a:xfrm>
            <a:off x="8255000" y="3766058"/>
            <a:ext cx="2895600" cy="462280"/>
          </a:xfrm>
          <a:prstGeom prst="rect">
            <a:avLst/>
          </a:prstGeom>
          <a:noFill/>
        </p:spPr>
        <p:txBody>
          <a:bodyPr wrap="square" lIns="0" rIns="0" tIns="0" bIns="0" anchor="t">
            <a:noAutofit/>
          </a:bodyPr>
          <a:lstStyle/>
          <a:p>
            <a:pPr algn="l">
              <a:lnSpc>
                <a:spcPts val="1820"/>
              </a:lnSpc>
            </a:pPr>
            <a:r>
              <a:rPr sz="1400" b="0">
                <a:solidFill>
                  <a:srgbClr val="4A5563"/>
                </a:solidFill>
                <a:latin typeface="Arial"/>
              </a:rPr>
              <a:t>lp 73.10% → proto 76.22% (CodaBench val)</a:t>
            </a:r>
          </a:p>
        </p:txBody>
      </p:sp>
      <p:sp>
        <p:nvSpPr>
          <p:cNvPr id="16" name="TextBox 15"/>
          <p:cNvSpPr txBox="1"/>
          <p:nvPr/>
        </p:nvSpPr>
        <p:spPr>
          <a:xfrm>
            <a:off x="812800" y="4812538"/>
            <a:ext cx="10566400" cy="514350"/>
          </a:xfrm>
          <a:prstGeom prst="rect">
            <a:avLst/>
          </a:prstGeom>
          <a:noFill/>
        </p:spPr>
        <p:txBody>
          <a:bodyPr wrap="square" lIns="0" rIns="0" tIns="0" bIns="0" anchor="t">
            <a:noAutofit/>
          </a:bodyPr>
          <a:lstStyle/>
          <a:p>
            <a:pPr algn="l">
              <a:lnSpc>
                <a:spcPts val="2025"/>
              </a:lnSpc>
            </a:pPr>
            <a:r>
              <a:rPr sz="1500" b="0">
                <a:solidFill>
                  <a:srgbClr val="4A5563"/>
                </a:solidFill>
                <a:latin typeface="Arial"/>
              </a:rPr>
              <a:t>Everything else is identical within each pair. A random head ends level with the prototype head (71.95% vs 72.00%, LoRA, 3 epochs) but converges more slowly, so only the linear-probe head hurts.</a:t>
            </a:r>
          </a:p>
        </p:txBody>
      </p:sp>
      <p:sp>
        <p:nvSpPr>
          <p:cNvPr id="17" name="TextBox 16"/>
          <p:cNvSpPr txBox="1"/>
          <p:nvPr/>
        </p:nvSpPr>
        <p:spPr>
          <a:xfrm>
            <a:off x="812800" y="6400800"/>
            <a:ext cx="9144000" cy="167640"/>
          </a:xfrm>
          <a:prstGeom prst="rect">
            <a:avLst/>
          </a:prstGeom>
          <a:noFill/>
        </p:spPr>
        <p:txBody>
          <a:bodyPr wrap="square" lIns="0" rIns="0" tIns="0" bIns="0" anchor="t">
            <a:noAutofit/>
          </a:bodyPr>
          <a:lstStyle/>
          <a:p>
            <a:pPr algn="l">
              <a:lnSpc>
                <a:spcPts val="1320"/>
              </a:lnSpc>
            </a:pPr>
            <a:r>
              <a:rPr sz="1100" b="0">
                <a:solidFill>
                  <a:srgbClr val="6B7280"/>
                </a:solidFill>
                <a:latin typeface="Arial"/>
              </a:rPr>
              <a:t>CS604 · Team 06 · lp = linear-probe head, proto = prototype head</a:t>
            </a:r>
          </a:p>
        </p:txBody>
      </p:sp>
      <p:sp>
        <p:nvSpPr>
          <p:cNvPr id="18" name="TextBox 17"/>
          <p:cNvSpPr txBox="1"/>
          <p:nvPr/>
        </p:nvSpPr>
        <p:spPr>
          <a:xfrm>
            <a:off x="10363200" y="6400800"/>
            <a:ext cx="1016000" cy="167640"/>
          </a:xfrm>
          <a:prstGeom prst="rect">
            <a:avLst/>
          </a:prstGeom>
          <a:noFill/>
        </p:spPr>
        <p:txBody>
          <a:bodyPr wrap="square" lIns="0" rIns="0" tIns="0" bIns="0" anchor="t">
            <a:noAutofit/>
          </a:bodyPr>
          <a:lstStyle/>
          <a:p>
            <a:pPr algn="r">
              <a:lnSpc>
                <a:spcPts val="1320"/>
              </a:lnSpc>
            </a:pPr>
            <a:r>
              <a:rPr sz="1100" b="0">
                <a:solidFill>
                  <a:srgbClr val="6B7280"/>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itle 1"/>
          <p:cNvSpPr>
            <a:spLocks noGrp="1"/>
          </p:cNvSpPr>
          <p:nvPr>
            <p:ph type="title"/>
          </p:nvPr>
        </p:nvSpPr>
        <p:spPr>
          <a:xfrm>
            <a:off x="812800" y="889000"/>
            <a:ext cx="10566400" cy="512064"/>
          </a:xfrm>
        </p:spPr>
        <p:txBody>
          <a:bodyPr wrap="square" lIns="0" rIns="0" tIns="0" bIns="0" anchor="t">
            <a:noAutofit/>
          </a:bodyPr>
          <a:lstStyle/>
          <a:p>
            <a:pPr algn="l">
              <a:lnSpc>
                <a:spcPts val="4032"/>
              </a:lnSpc>
            </a:pPr>
            <a:r>
              <a:rPr sz="3600" b="1">
                <a:solidFill>
                  <a:srgbClr val="15202B"/>
                </a:solidFill>
                <a:latin typeface="Georgia"/>
              </a:rPr>
              <a:t>Linear-probe heads start high, finish low</a:t>
            </a:r>
          </a:p>
        </p:txBody>
      </p:sp>
      <p:sp>
        <p:nvSpPr>
          <p:cNvPr id="3" name="TextBox 2"/>
          <p:cNvSpPr txBox="1"/>
          <p:nvPr/>
        </p:nvSpPr>
        <p:spPr>
          <a:xfrm>
            <a:off x="812800" y="635000"/>
            <a:ext cx="10566400" cy="182880"/>
          </a:xfrm>
          <a:prstGeom prst="rect">
            <a:avLst/>
          </a:prstGeom>
          <a:noFill/>
        </p:spPr>
        <p:txBody>
          <a:bodyPr wrap="square" lIns="0" rIns="0" tIns="0" bIns="0" anchor="t">
            <a:noAutofit/>
          </a:bodyPr>
          <a:lstStyle/>
          <a:p>
            <a:pPr algn="l">
              <a:lnSpc>
                <a:spcPts val="1439"/>
              </a:lnSpc>
            </a:pPr>
            <a:r>
              <a:rPr sz="1200" b="1" spc="150">
                <a:solidFill>
                  <a:srgbClr val="1F5FAD"/>
                </a:solidFill>
                <a:latin typeface="Arial"/>
              </a:rPr>
              <a:t>FINDING 1 · EVIDENCE</a:t>
            </a:r>
          </a:p>
        </p:txBody>
      </p:sp>
      <p:pic>
        <p:nvPicPr>
          <p:cNvPr id="4" name="Picture 3" descr="Line charts of holdout top-1 accuracy by epoch. Full fine-tuning: the linear-probe head goes from 62.1% before training to 70.9% after 3 epochs, the prototype head from 44.0% to 73.4%. LoRA on all linear layers: linear-probe head 62.1% to 69.6%, prototype head 44.0% to 72.0%."/>
          <p:cNvPicPr>
            <a:picLocks noChangeAspect="1"/>
          </p:cNvPicPr>
          <p:nvPr/>
        </p:nvPicPr>
        <p:blipFill>
          <a:blip r:embed="rId2"/>
          <a:stretch>
            <a:fillRect/>
          </a:stretch>
        </p:blipFill>
        <p:spPr>
          <a:xfrm>
            <a:off x="1180075" y="1680464"/>
            <a:ext cx="9831850" cy="3976116"/>
          </a:xfrm>
          <a:prstGeom prst="rect">
            <a:avLst/>
          </a:prstGeom>
        </p:spPr>
      </p:pic>
      <p:sp>
        <p:nvSpPr>
          <p:cNvPr id="5" name="TextBox 4"/>
          <p:cNvSpPr txBox="1"/>
          <p:nvPr/>
        </p:nvSpPr>
        <p:spPr>
          <a:xfrm>
            <a:off x="812800" y="5783580"/>
            <a:ext cx="10566400" cy="363220"/>
          </a:xfrm>
          <a:prstGeom prst="rect">
            <a:avLst/>
          </a:prstGeom>
          <a:noFill/>
        </p:spPr>
        <p:txBody>
          <a:bodyPr wrap="square" lIns="0" rIns="0" tIns="0" bIns="0" anchor="t">
            <a:noAutofit/>
          </a:bodyPr>
          <a:lstStyle/>
          <a:p>
            <a:pPr algn="l">
              <a:lnSpc>
                <a:spcPts val="1430"/>
              </a:lnSpc>
            </a:pPr>
            <a:r>
              <a:rPr sz="1100" b="0">
                <a:solidFill>
                  <a:srgbClr val="6B7280"/>
                </a:solidFill>
                <a:latin typeface="Arial"/>
              </a:rPr>
              <a:t>Holdout top-1 after each epoch; “head only” is the accuracy before any training. Left: full fine-tuning. Right: LoRA on all linear layers. Blue = prototype head, orange = linear-probe head.</a:t>
            </a:r>
          </a:p>
        </p:txBody>
      </p:sp>
      <p:sp>
        <p:nvSpPr>
          <p:cNvPr id="6" name="TextBox 5"/>
          <p:cNvSpPr txBox="1"/>
          <p:nvPr/>
        </p:nvSpPr>
        <p:spPr>
          <a:xfrm>
            <a:off x="812800" y="6400800"/>
            <a:ext cx="9144000" cy="167640"/>
          </a:xfrm>
          <a:prstGeom prst="rect">
            <a:avLst/>
          </a:prstGeom>
          <a:noFill/>
        </p:spPr>
        <p:txBody>
          <a:bodyPr wrap="square" lIns="0" rIns="0" tIns="0" bIns="0" anchor="t">
            <a:noAutofit/>
          </a:bodyPr>
          <a:lstStyle/>
          <a:p>
            <a:pPr algn="l">
              <a:lnSpc>
                <a:spcPts val="1320"/>
              </a:lnSpc>
            </a:pPr>
            <a:r>
              <a:rPr sz="1100" b="0">
                <a:solidFill>
                  <a:srgbClr val="6B7280"/>
                </a:solidFill>
                <a:latin typeface="Arial"/>
              </a:rPr>
              <a:t>CS604 · Team 06</a:t>
            </a:r>
          </a:p>
        </p:txBody>
      </p:sp>
      <p:sp>
        <p:nvSpPr>
          <p:cNvPr id="7" name="TextBox 6"/>
          <p:cNvSpPr txBox="1"/>
          <p:nvPr/>
        </p:nvSpPr>
        <p:spPr>
          <a:xfrm>
            <a:off x="10363200" y="6400800"/>
            <a:ext cx="1016000" cy="167640"/>
          </a:xfrm>
          <a:prstGeom prst="rect">
            <a:avLst/>
          </a:prstGeom>
          <a:noFill/>
        </p:spPr>
        <p:txBody>
          <a:bodyPr wrap="square" lIns="0" rIns="0" tIns="0" bIns="0" anchor="t">
            <a:noAutofit/>
          </a:bodyPr>
          <a:lstStyle/>
          <a:p>
            <a:pPr algn="r">
              <a:lnSpc>
                <a:spcPts val="1320"/>
              </a:lnSpc>
            </a:pPr>
            <a:r>
              <a:rPr sz="1100" b="0">
                <a:solidFill>
                  <a:srgbClr val="6B7280"/>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itle 1"/>
          <p:cNvSpPr>
            <a:spLocks noGrp="1"/>
          </p:cNvSpPr>
          <p:nvPr>
            <p:ph type="title"/>
          </p:nvPr>
        </p:nvSpPr>
        <p:spPr>
          <a:xfrm>
            <a:off x="812800" y="889000"/>
            <a:ext cx="10566400" cy="1024128"/>
          </a:xfrm>
        </p:spPr>
        <p:txBody>
          <a:bodyPr wrap="square" lIns="0" rIns="0" tIns="0" bIns="0" anchor="t">
            <a:noAutofit/>
          </a:bodyPr>
          <a:lstStyle/>
          <a:p>
            <a:pPr algn="l">
              <a:lnSpc>
                <a:spcPts val="4032"/>
              </a:lnSpc>
            </a:pPr>
            <a:r>
              <a:rPr sz="3600" b="1">
                <a:solidFill>
                  <a:srgbClr val="15202B"/>
                </a:solidFill>
                <a:latin typeface="Georgia"/>
              </a:rPr>
              <a:t>The linear-probe head has already fit the training set</a:t>
            </a:r>
          </a:p>
        </p:txBody>
      </p:sp>
      <p:sp>
        <p:nvSpPr>
          <p:cNvPr id="3" name="TextBox 2"/>
          <p:cNvSpPr txBox="1"/>
          <p:nvPr/>
        </p:nvSpPr>
        <p:spPr>
          <a:xfrm>
            <a:off x="812800" y="635000"/>
            <a:ext cx="10566400" cy="182880"/>
          </a:xfrm>
          <a:prstGeom prst="rect">
            <a:avLst/>
          </a:prstGeom>
          <a:noFill/>
        </p:spPr>
        <p:txBody>
          <a:bodyPr wrap="square" lIns="0" rIns="0" tIns="0" bIns="0" anchor="t">
            <a:noAutofit/>
          </a:bodyPr>
          <a:lstStyle/>
          <a:p>
            <a:pPr algn="l">
              <a:lnSpc>
                <a:spcPts val="1439"/>
              </a:lnSpc>
            </a:pPr>
            <a:r>
              <a:rPr sz="1200" b="1" spc="150">
                <a:solidFill>
                  <a:srgbClr val="1F5FAD"/>
                </a:solidFill>
                <a:latin typeface="Arial"/>
              </a:rPr>
              <a:t>FINDING 1 · WHY</a:t>
            </a:r>
          </a:p>
        </p:txBody>
      </p:sp>
      <p:sp>
        <p:nvSpPr>
          <p:cNvPr id="4" name="TextBox 3"/>
          <p:cNvSpPr txBox="1"/>
          <p:nvPr/>
        </p:nvSpPr>
        <p:spPr>
          <a:xfrm>
            <a:off x="812800" y="2243328"/>
            <a:ext cx="3810000" cy="2886456"/>
          </a:xfrm>
          <a:prstGeom prst="rect">
            <a:avLst/>
          </a:prstGeom>
          <a:noFill/>
        </p:spPr>
        <p:txBody>
          <a:bodyPr wrap="square" lIns="0" rIns="0" tIns="0" bIns="0" anchor="t">
            <a:noAutofit/>
          </a:bodyPr>
          <a:lstStyle/>
          <a:p>
            <a:pPr algn="l">
              <a:lnSpc>
                <a:spcPts val="1848"/>
              </a:lnSpc>
              <a:spcAft>
                <a:spcPts val="1200"/>
              </a:spcAft>
            </a:pPr>
            <a:r>
              <a:rPr sz="1400" b="1">
                <a:solidFill>
                  <a:srgbClr val="4A5563"/>
                </a:solidFill>
                <a:latin typeface="Arial"/>
              </a:rPr>
              <a:t>Weak signal.</a:t>
            </a:r>
            <a:r>
              <a:rPr sz="1400" b="0">
                <a:solidFill>
                  <a:srgbClr val="4A5563"/>
                </a:solidFill>
                <a:latin typeface="Arial"/>
              </a:rPr>
              <a:t> It was trained on frozen features of the same training images, so the first training loss is low (2.29 vs 4.39 with prototypes, LoRA) and little gradient reaches the backbone.</a:t>
            </a:r>
          </a:p>
          <a:p>
            <a:pPr algn="l">
              <a:lnSpc>
                <a:spcPts val="1848"/>
              </a:lnSpc>
              <a:spcAft>
                <a:spcPts val="1200"/>
              </a:spcAft>
            </a:pPr>
            <a:r>
              <a:rPr sz="1400" b="1">
                <a:solidFill>
                  <a:srgbClr val="4A5563"/>
                </a:solidFill>
                <a:latin typeface="Arial"/>
              </a:rPr>
              <a:t>Then a mismatch.</a:t>
            </a:r>
            <a:r>
              <a:rPr sz="1400" b="0">
                <a:solidFill>
                  <a:srgbClr val="4A5563"/>
                </a:solidFill>
                <a:latin typeface="Arial"/>
              </a:rPr>
              <a:t> Once the features move, the fitted head no longer fits: with LoRA the training loss rose from 2.22 to 2.69 in epoch 1.</a:t>
            </a:r>
          </a:p>
          <a:p>
            <a:pPr algn="l">
              <a:lnSpc>
                <a:spcPts val="1848"/>
              </a:lnSpc>
            </a:pPr>
            <a:r>
              <a:rPr sz="1400" b="1">
                <a:solidFill>
                  <a:srgbClr val="4A5563"/>
                </a:solidFill>
                <a:latin typeface="Arial"/>
              </a:rPr>
              <a:t>Prototypes generalize.</a:t>
            </a:r>
            <a:r>
              <a:rPr sz="1400" b="0">
                <a:solidFill>
                  <a:srgbClr val="4A5563"/>
                </a:solidFill>
                <a:latin typeface="Arial"/>
              </a:rPr>
              <a:t> Higher training loss (1.85 vs 1.77), yet +3.1 points on CodaBench.</a:t>
            </a:r>
          </a:p>
        </p:txBody>
      </p:sp>
      <p:pic>
        <p:nvPicPr>
          <p:cNvPr id="5" name="Picture 4" descr="Training loss over 8 epochs of full fine-tuning on all data. The prototype-head run starts near 5.0 and ends at 1.85; the linear-probe-head run starts near 2.8 and ends at 1.77. Both drop in steps at every epoch boundary. CodaBench: 76.22% with the prototype head, 73.10% with the linear-probe head."/>
          <p:cNvPicPr>
            <a:picLocks noChangeAspect="1"/>
          </p:cNvPicPr>
          <p:nvPr/>
        </p:nvPicPr>
        <p:blipFill>
          <a:blip r:embed="rId2"/>
          <a:stretch>
            <a:fillRect/>
          </a:stretch>
        </p:blipFill>
        <p:spPr>
          <a:xfrm>
            <a:off x="4927600" y="2243328"/>
            <a:ext cx="6451600" cy="2466788"/>
          </a:xfrm>
          <a:prstGeom prst="rect">
            <a:avLst/>
          </a:prstGeom>
        </p:spPr>
      </p:pic>
      <p:sp>
        <p:nvSpPr>
          <p:cNvPr id="6" name="TextBox 5"/>
          <p:cNvSpPr txBox="1"/>
          <p:nvPr/>
        </p:nvSpPr>
        <p:spPr>
          <a:xfrm>
            <a:off x="812800" y="6400800"/>
            <a:ext cx="9144000" cy="167640"/>
          </a:xfrm>
          <a:prstGeom prst="rect">
            <a:avLst/>
          </a:prstGeom>
          <a:noFill/>
        </p:spPr>
        <p:txBody>
          <a:bodyPr wrap="square" lIns="0" rIns="0" tIns="0" bIns="0" anchor="t">
            <a:noAutofit/>
          </a:bodyPr>
          <a:lstStyle/>
          <a:p>
            <a:pPr algn="l">
              <a:lnSpc>
                <a:spcPts val="1320"/>
              </a:lnSpc>
            </a:pPr>
            <a:r>
              <a:rPr sz="1100" b="0">
                <a:solidFill>
                  <a:srgbClr val="6B7280"/>
                </a:solidFill>
                <a:latin typeface="Arial"/>
              </a:rPr>
              <a:t>CS604 · Team 06 · Chart: full fine-tuning, all data, 8 epochs</a:t>
            </a:r>
          </a:p>
        </p:txBody>
      </p:sp>
      <p:sp>
        <p:nvSpPr>
          <p:cNvPr id="7" name="TextBox 6"/>
          <p:cNvSpPr txBox="1"/>
          <p:nvPr/>
        </p:nvSpPr>
        <p:spPr>
          <a:xfrm>
            <a:off x="10363200" y="6400800"/>
            <a:ext cx="1016000" cy="167640"/>
          </a:xfrm>
          <a:prstGeom prst="rect">
            <a:avLst/>
          </a:prstGeom>
          <a:noFill/>
        </p:spPr>
        <p:txBody>
          <a:bodyPr wrap="square" lIns="0" rIns="0" tIns="0" bIns="0" anchor="t">
            <a:noAutofit/>
          </a:bodyPr>
          <a:lstStyle/>
          <a:p>
            <a:pPr algn="r">
              <a:lnSpc>
                <a:spcPts val="1320"/>
              </a:lnSpc>
            </a:pPr>
            <a:r>
              <a:rPr sz="1100" b="0">
                <a:solidFill>
                  <a:srgbClr val="6B7280"/>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itle 1"/>
          <p:cNvSpPr>
            <a:spLocks noGrp="1"/>
          </p:cNvSpPr>
          <p:nvPr>
            <p:ph type="title"/>
          </p:nvPr>
        </p:nvSpPr>
        <p:spPr>
          <a:xfrm>
            <a:off x="812800" y="889000"/>
            <a:ext cx="10566400" cy="1024128"/>
          </a:xfrm>
        </p:spPr>
        <p:txBody>
          <a:bodyPr wrap="square" lIns="0" rIns="0" tIns="0" bIns="0" anchor="t">
            <a:noAutofit/>
          </a:bodyPr>
          <a:lstStyle/>
          <a:p>
            <a:pPr algn="l">
              <a:lnSpc>
                <a:spcPts val="4032"/>
              </a:lnSpc>
            </a:pPr>
            <a:r>
              <a:rPr sz="3600" b="1">
                <a:solidFill>
                  <a:srgbClr val="15202B"/>
                </a:solidFill>
                <a:latin typeface="Georgia"/>
              </a:rPr>
              <a:t>For PEFT, capacity matters more than learning rate</a:t>
            </a:r>
          </a:p>
        </p:txBody>
      </p:sp>
      <p:sp>
        <p:nvSpPr>
          <p:cNvPr id="3" name="TextBox 2"/>
          <p:cNvSpPr txBox="1"/>
          <p:nvPr/>
        </p:nvSpPr>
        <p:spPr>
          <a:xfrm>
            <a:off x="812800" y="635000"/>
            <a:ext cx="10566400" cy="182880"/>
          </a:xfrm>
          <a:prstGeom prst="rect">
            <a:avLst/>
          </a:prstGeom>
          <a:noFill/>
        </p:spPr>
        <p:txBody>
          <a:bodyPr wrap="square" lIns="0" rIns="0" tIns="0" bIns="0" anchor="t">
            <a:noAutofit/>
          </a:bodyPr>
          <a:lstStyle/>
          <a:p>
            <a:pPr algn="l">
              <a:lnSpc>
                <a:spcPts val="1439"/>
              </a:lnSpc>
            </a:pPr>
            <a:r>
              <a:rPr sz="1200" b="1" spc="150">
                <a:solidFill>
                  <a:srgbClr val="1F5FAD"/>
                </a:solidFill>
                <a:latin typeface="Arial"/>
              </a:rPr>
              <a:t>FINDING 2</a:t>
            </a:r>
          </a:p>
        </p:txBody>
      </p:sp>
      <p:graphicFrame>
        <p:nvGraphicFramePr>
          <p:cNvPr id="4" name="Table 3"/>
          <p:cNvGraphicFramePr>
            <a:graphicFrameLocks noGrp="1"/>
          </p:cNvGraphicFramePr>
          <p:nvPr/>
        </p:nvGraphicFramePr>
        <p:xfrm>
          <a:off x="812800" y="2217928"/>
          <a:ext cx="10566400" cy="1988820"/>
        </p:xfrm>
        <a:graphic>
          <a:graphicData uri="http://schemas.openxmlformats.org/drawingml/2006/table">
            <a:tbl>
              <a:tblPr firstRow="1">
                <a:tableStyleId>{5C22544A-7EE6-4342-B048-85BDC9FD1C3A}</a:tableStyleId>
              </a:tblPr>
              <a:tblGrid>
                <a:gridCol w="3810000"/>
                <a:gridCol w="1219200"/>
                <a:gridCol w="1219200"/>
                <a:gridCol w="1524000"/>
                <a:gridCol w="1320800"/>
                <a:gridCol w="1473200"/>
              </a:tblGrid>
              <a:tr h="331470">
                <a:tc>
                  <a:txBody>
                    <a:bodyPr/>
                    <a:lstStyle/>
                    <a:p>
                      <a:pPr algn="l">
                        <a:lnSpc>
                          <a:spcPts val="1609"/>
                        </a:lnSpc>
                      </a:pPr>
                      <a:r>
                        <a:rPr sz="1400" b="1">
                          <a:solidFill>
                            <a:srgbClr val="15202B"/>
                          </a:solidFill>
                          <a:latin typeface="Arial"/>
                        </a:rPr>
                        <a:t>Setting (lp head, 3 epochs)</a:t>
                      </a:r>
                    </a:p>
                  </a:txBody>
                  <a:tcPr marL="76200" marR="76200" marT="63500" marB="63500" anchor="ctr">
                    <a:solidFill>
                      <a:srgbClr val="E6E2DA"/>
                    </a:solidFill>
                  </a:tcPr>
                </a:tc>
                <a:tc>
                  <a:txBody>
                    <a:bodyPr/>
                    <a:lstStyle/>
                    <a:p>
                      <a:pPr algn="r">
                        <a:lnSpc>
                          <a:spcPts val="1609"/>
                        </a:lnSpc>
                      </a:pPr>
                      <a:r>
                        <a:rPr sz="1400" b="1">
                          <a:solidFill>
                            <a:srgbClr val="15202B"/>
                          </a:solidFill>
                          <a:latin typeface="Arial"/>
                        </a:rPr>
                        <a:t>Trainable</a:t>
                      </a:r>
                    </a:p>
                  </a:txBody>
                  <a:tcPr marL="76200" marR="76200" marT="63500" marB="63500" anchor="ctr">
                    <a:solidFill>
                      <a:srgbClr val="E6E2DA"/>
                    </a:solidFill>
                  </a:tcPr>
                </a:tc>
                <a:tc>
                  <a:txBody>
                    <a:bodyPr/>
                    <a:lstStyle/>
                    <a:p>
                      <a:pPr algn="r">
                        <a:lnSpc>
                          <a:spcPts val="1609"/>
                        </a:lnSpc>
                      </a:pPr>
                      <a:r>
                        <a:rPr sz="1400" b="1">
                          <a:solidFill>
                            <a:srgbClr val="15202B"/>
                          </a:solidFill>
                          <a:latin typeface="Arial"/>
                        </a:rPr>
                        <a:t>Holdout</a:t>
                      </a:r>
                    </a:p>
                  </a:txBody>
                  <a:tcPr marL="76200" marR="76200" marT="63500" marB="63500" anchor="ctr">
                    <a:solidFill>
                      <a:srgbClr val="E6E2DA"/>
                    </a:solidFill>
                  </a:tcPr>
                </a:tc>
                <a:tc>
                  <a:txBody>
                    <a:bodyPr/>
                    <a:lstStyle/>
                    <a:p>
                      <a:pPr algn="r">
                        <a:lnSpc>
                          <a:spcPts val="1609"/>
                        </a:lnSpc>
                      </a:pPr>
                      <a:r>
                        <a:rPr sz="1400" b="1">
                          <a:solidFill>
                            <a:srgbClr val="15202B"/>
                          </a:solidFill>
                          <a:latin typeface="Arial"/>
                        </a:rPr>
                        <a:t>Train speed</a:t>
                      </a:r>
                    </a:p>
                  </a:txBody>
                  <a:tcPr marL="76200" marR="76200" marT="63500" marB="63500" anchor="ctr">
                    <a:solidFill>
                      <a:srgbClr val="E6E2DA"/>
                    </a:solidFill>
                  </a:tcPr>
                </a:tc>
                <a:tc>
                  <a:txBody>
                    <a:bodyPr/>
                    <a:lstStyle/>
                    <a:p>
                      <a:pPr algn="r">
                        <a:lnSpc>
                          <a:spcPts val="1609"/>
                        </a:lnSpc>
                      </a:pPr>
                      <a:r>
                        <a:rPr sz="1400" b="1">
                          <a:solidFill>
                            <a:srgbClr val="15202B"/>
                          </a:solidFill>
                          <a:latin typeface="Arial"/>
                        </a:rPr>
                        <a:t>Peak VRAM</a:t>
                      </a:r>
                    </a:p>
                  </a:txBody>
                  <a:tcPr marL="76200" marR="76200" marT="63500" marB="63500" anchor="ctr">
                    <a:solidFill>
                      <a:srgbClr val="E6E2DA"/>
                    </a:solidFill>
                  </a:tcPr>
                </a:tc>
                <a:tc>
                  <a:txBody>
                    <a:bodyPr/>
                    <a:lstStyle/>
                    <a:p>
                      <a:pPr algn="r">
                        <a:lnSpc>
                          <a:spcPts val="1609"/>
                        </a:lnSpc>
                      </a:pPr>
                      <a:r>
                        <a:rPr sz="1400" b="1">
                          <a:solidFill>
                            <a:srgbClr val="15202B"/>
                          </a:solidFill>
                          <a:latin typeface="Arial"/>
                        </a:rPr>
                        <a:t>Latency bs1</a:t>
                      </a:r>
                    </a:p>
                  </a:txBody>
                  <a:tcPr marL="76200" marR="76200" marT="63500" marB="63500" anchor="ctr">
                    <a:solidFill>
                      <a:srgbClr val="E6E2DA"/>
                    </a:solidFill>
                  </a:tcPr>
                </a:tc>
              </a:tr>
              <a:tr h="331470">
                <a:tc>
                  <a:txBody>
                    <a:bodyPr/>
                    <a:lstStyle/>
                    <a:p>
                      <a:pPr algn="l">
                        <a:lnSpc>
                          <a:spcPts val="1609"/>
                        </a:lnSpc>
                      </a:pPr>
                      <a:r>
                        <a:rPr sz="1400" b="0">
                          <a:solidFill>
                            <a:srgbClr val="15202B"/>
                          </a:solidFill>
                          <a:latin typeface="Arial"/>
                        </a:rPr>
                        <a:t>LoRA on qkv (baseline)</a:t>
                      </a:r>
                    </a:p>
                  </a:txBody>
                  <a:tcPr marL="76200" marR="76200" marT="63500" marB="63500" anchor="ctr">
                    <a:solidFill>
                      <a:srgbClr val="FFFFFF"/>
                    </a:solidFill>
                  </a:tcPr>
                </a:tc>
                <a:tc>
                  <a:txBody>
                    <a:bodyPr/>
                    <a:lstStyle/>
                    <a:p>
                      <a:pPr algn="r">
                        <a:lnSpc>
                          <a:spcPts val="1609"/>
                        </a:lnSpc>
                      </a:pPr>
                      <a:r>
                        <a:rPr sz="1400" b="0">
                          <a:solidFill>
                            <a:srgbClr val="15202B"/>
                          </a:solidFill>
                          <a:latin typeface="Arial"/>
                        </a:rPr>
                        <a:t>0.344%</a:t>
                      </a:r>
                    </a:p>
                  </a:txBody>
                  <a:tcPr marL="76200" marR="76200" marT="63500" marB="63500" anchor="ctr">
                    <a:solidFill>
                      <a:srgbClr val="FFFFFF"/>
                    </a:solidFill>
                  </a:tcPr>
                </a:tc>
                <a:tc>
                  <a:txBody>
                    <a:bodyPr/>
                    <a:lstStyle/>
                    <a:p>
                      <a:pPr algn="r">
                        <a:lnSpc>
                          <a:spcPts val="1609"/>
                        </a:lnSpc>
                      </a:pPr>
                      <a:r>
                        <a:rPr sz="1400" b="0">
                          <a:solidFill>
                            <a:srgbClr val="15202B"/>
                          </a:solidFill>
                          <a:latin typeface="Arial"/>
                        </a:rPr>
                        <a:t>68.57%</a:t>
                      </a:r>
                    </a:p>
                  </a:txBody>
                  <a:tcPr marL="76200" marR="76200" marT="63500" marB="63500" anchor="ctr">
                    <a:solidFill>
                      <a:srgbClr val="FFFFFF"/>
                    </a:solidFill>
                  </a:tcPr>
                </a:tc>
                <a:tc>
                  <a:txBody>
                    <a:bodyPr/>
                    <a:lstStyle/>
                    <a:p>
                      <a:pPr algn="r">
                        <a:lnSpc>
                          <a:spcPts val="1609"/>
                        </a:lnSpc>
                      </a:pPr>
                      <a:r>
                        <a:rPr sz="1400" b="0">
                          <a:solidFill>
                            <a:srgbClr val="15202B"/>
                          </a:solidFill>
                          <a:latin typeface="Arial"/>
                        </a:rPr>
                        <a:t>1,341 img/s</a:t>
                      </a:r>
                    </a:p>
                  </a:txBody>
                  <a:tcPr marL="76200" marR="76200" marT="63500" marB="63500" anchor="ctr">
                    <a:solidFill>
                      <a:srgbClr val="FFFFFF"/>
                    </a:solidFill>
                  </a:tcPr>
                </a:tc>
                <a:tc>
                  <a:txBody>
                    <a:bodyPr/>
                    <a:lstStyle/>
                    <a:p>
                      <a:pPr algn="r">
                        <a:lnSpc>
                          <a:spcPts val="1609"/>
                        </a:lnSpc>
                      </a:pPr>
                      <a:r>
                        <a:rPr sz="1400" b="0">
                          <a:solidFill>
                            <a:srgbClr val="15202B"/>
                          </a:solidFill>
                          <a:latin typeface="Arial"/>
                        </a:rPr>
                        <a:t>13.5 GB</a:t>
                      </a:r>
                    </a:p>
                  </a:txBody>
                  <a:tcPr marL="76200" marR="76200" marT="63500" marB="63500" anchor="ctr">
                    <a:solidFill>
                      <a:srgbClr val="FFFFFF"/>
                    </a:solidFill>
                  </a:tcPr>
                </a:tc>
                <a:tc>
                  <a:txBody>
                    <a:bodyPr/>
                    <a:lstStyle/>
                    <a:p>
                      <a:pPr algn="r">
                        <a:lnSpc>
                          <a:spcPts val="1609"/>
                        </a:lnSpc>
                      </a:pPr>
                      <a:r>
                        <a:rPr sz="1400" b="0">
                          <a:solidFill>
                            <a:srgbClr val="15202B"/>
                          </a:solidFill>
                          <a:latin typeface="Arial"/>
                        </a:rPr>
                        <a:t>7.22 ms</a:t>
                      </a:r>
                    </a:p>
                  </a:txBody>
                  <a:tcPr marL="76200" marR="76200" marT="63500" marB="63500" anchor="ctr">
                    <a:solidFill>
                      <a:srgbClr val="FFFFFF"/>
                    </a:solidFill>
                  </a:tcPr>
                </a:tc>
              </a:tr>
              <a:tr h="331470">
                <a:tc>
                  <a:txBody>
                    <a:bodyPr/>
                    <a:lstStyle/>
                    <a:p>
                      <a:pPr algn="l">
                        <a:lnSpc>
                          <a:spcPts val="1609"/>
                        </a:lnSpc>
                      </a:pPr>
                      <a:r>
                        <a:rPr sz="1400" b="0">
                          <a:solidFill>
                            <a:srgbClr val="15202B"/>
                          </a:solidFill>
                          <a:latin typeface="Arial"/>
                        </a:rPr>
                        <a:t>LoRA on qkv, LR 1e-3 → 5e-4</a:t>
                      </a:r>
                    </a:p>
                  </a:txBody>
                  <a:tcPr marL="76200" marR="76200" marT="63500" marB="63500" anchor="ctr">
                    <a:solidFill>
                      <a:srgbClr val="F4F2EE"/>
                    </a:solidFill>
                  </a:tcPr>
                </a:tc>
                <a:tc>
                  <a:txBody>
                    <a:bodyPr/>
                    <a:lstStyle/>
                    <a:p>
                      <a:pPr algn="r">
                        <a:lnSpc>
                          <a:spcPts val="1609"/>
                        </a:lnSpc>
                      </a:pPr>
                      <a:r>
                        <a:rPr sz="1400" b="0">
                          <a:solidFill>
                            <a:srgbClr val="15202B"/>
                          </a:solidFill>
                          <a:latin typeface="Arial"/>
                        </a:rPr>
                        <a:t>0.344%</a:t>
                      </a:r>
                    </a:p>
                  </a:txBody>
                  <a:tcPr marL="76200" marR="76200" marT="63500" marB="63500" anchor="ctr">
                    <a:solidFill>
                      <a:srgbClr val="F4F2EE"/>
                    </a:solidFill>
                  </a:tcPr>
                </a:tc>
                <a:tc>
                  <a:txBody>
                    <a:bodyPr/>
                    <a:lstStyle/>
                    <a:p>
                      <a:pPr algn="r">
                        <a:lnSpc>
                          <a:spcPts val="1609"/>
                        </a:lnSpc>
                      </a:pPr>
                      <a:r>
                        <a:rPr sz="1400" b="0">
                          <a:solidFill>
                            <a:srgbClr val="15202B"/>
                          </a:solidFill>
                          <a:latin typeface="Arial"/>
                        </a:rPr>
                        <a:t>68.45%</a:t>
                      </a:r>
                    </a:p>
                  </a:txBody>
                  <a:tcPr marL="76200" marR="76200" marT="63500" marB="63500" anchor="ctr">
                    <a:solidFill>
                      <a:srgbClr val="F4F2EE"/>
                    </a:solidFill>
                  </a:tcPr>
                </a:tc>
                <a:tc>
                  <a:txBody>
                    <a:bodyPr/>
                    <a:lstStyle/>
                    <a:p>
                      <a:pPr algn="r">
                        <a:lnSpc>
                          <a:spcPts val="1609"/>
                        </a:lnSpc>
                      </a:pPr>
                      <a:r>
                        <a:rPr sz="1400" b="0">
                          <a:solidFill>
                            <a:srgbClr val="15202B"/>
                          </a:solidFill>
                          <a:latin typeface="Arial"/>
                        </a:rPr>
                        <a:t>1,353 img/s</a:t>
                      </a:r>
                    </a:p>
                  </a:txBody>
                  <a:tcPr marL="76200" marR="76200" marT="63500" marB="63500" anchor="ctr">
                    <a:solidFill>
                      <a:srgbClr val="F4F2EE"/>
                    </a:solidFill>
                  </a:tcPr>
                </a:tc>
                <a:tc>
                  <a:txBody>
                    <a:bodyPr/>
                    <a:lstStyle/>
                    <a:p>
                      <a:pPr algn="r">
                        <a:lnSpc>
                          <a:spcPts val="1609"/>
                        </a:lnSpc>
                      </a:pPr>
                      <a:r>
                        <a:rPr sz="1400" b="0">
                          <a:solidFill>
                            <a:srgbClr val="15202B"/>
                          </a:solidFill>
                          <a:latin typeface="Arial"/>
                        </a:rPr>
                        <a:t>13.5 GB</a:t>
                      </a:r>
                    </a:p>
                  </a:txBody>
                  <a:tcPr marL="76200" marR="76200" marT="63500" marB="63500" anchor="ctr">
                    <a:solidFill>
                      <a:srgbClr val="F4F2EE"/>
                    </a:solidFill>
                  </a:tcPr>
                </a:tc>
                <a:tc>
                  <a:txBody>
                    <a:bodyPr/>
                    <a:lstStyle/>
                    <a:p>
                      <a:pPr algn="r">
                        <a:lnSpc>
                          <a:spcPts val="1609"/>
                        </a:lnSpc>
                      </a:pPr>
                      <a:r>
                        <a:rPr sz="1400" b="0">
                          <a:solidFill>
                            <a:srgbClr val="15202B"/>
                          </a:solidFill>
                          <a:latin typeface="Arial"/>
                        </a:rPr>
                        <a:t>7.15 ms</a:t>
                      </a:r>
                    </a:p>
                  </a:txBody>
                  <a:tcPr marL="76200" marR="76200" marT="63500" marB="63500" anchor="ctr">
                    <a:solidFill>
                      <a:srgbClr val="F4F2EE"/>
                    </a:solidFill>
                  </a:tcPr>
                </a:tc>
              </a:tr>
              <a:tr h="331470">
                <a:tc>
                  <a:txBody>
                    <a:bodyPr/>
                    <a:lstStyle/>
                    <a:p>
                      <a:pPr algn="l">
                        <a:lnSpc>
                          <a:spcPts val="1609"/>
                        </a:lnSpc>
                      </a:pPr>
                      <a:r>
                        <a:rPr sz="1400" b="1">
                          <a:solidFill>
                            <a:srgbClr val="15202B"/>
                          </a:solidFill>
                          <a:latin typeface="Arial"/>
                        </a:rPr>
                        <a:t>LoRA on qkv, proj, fc1, fc2</a:t>
                      </a:r>
                    </a:p>
                  </a:txBody>
                  <a:tcPr marL="76200" marR="76200" marT="63500" marB="63500" anchor="ctr">
                    <a:solidFill>
                      <a:srgbClr val="E7F0FB"/>
                    </a:solidFill>
                  </a:tcPr>
                </a:tc>
                <a:tc>
                  <a:txBody>
                    <a:bodyPr/>
                    <a:lstStyle/>
                    <a:p>
                      <a:pPr algn="r">
                        <a:lnSpc>
                          <a:spcPts val="1609"/>
                        </a:lnSpc>
                      </a:pPr>
                      <a:r>
                        <a:rPr sz="1400" b="1">
                          <a:solidFill>
                            <a:srgbClr val="15202B"/>
                          </a:solidFill>
                          <a:latin typeface="Arial"/>
                        </a:rPr>
                        <a:t>1.375%</a:t>
                      </a:r>
                    </a:p>
                  </a:txBody>
                  <a:tcPr marL="76200" marR="76200" marT="63500" marB="63500" anchor="ctr">
                    <a:solidFill>
                      <a:srgbClr val="E7F0FB"/>
                    </a:solidFill>
                  </a:tcPr>
                </a:tc>
                <a:tc>
                  <a:txBody>
                    <a:bodyPr/>
                    <a:lstStyle/>
                    <a:p>
                      <a:pPr algn="r">
                        <a:lnSpc>
                          <a:spcPts val="1609"/>
                        </a:lnSpc>
                      </a:pPr>
                      <a:r>
                        <a:rPr sz="1400" b="1">
                          <a:solidFill>
                            <a:srgbClr val="15202B"/>
                          </a:solidFill>
                          <a:latin typeface="Arial"/>
                        </a:rPr>
                        <a:t>69.45%</a:t>
                      </a:r>
                    </a:p>
                  </a:txBody>
                  <a:tcPr marL="76200" marR="76200" marT="63500" marB="63500" anchor="ctr">
                    <a:solidFill>
                      <a:srgbClr val="E7F0FB"/>
                    </a:solidFill>
                  </a:tcPr>
                </a:tc>
                <a:tc>
                  <a:txBody>
                    <a:bodyPr/>
                    <a:lstStyle/>
                    <a:p>
                      <a:pPr algn="r">
                        <a:lnSpc>
                          <a:spcPts val="1609"/>
                        </a:lnSpc>
                      </a:pPr>
                      <a:r>
                        <a:rPr sz="1400" b="1">
                          <a:solidFill>
                            <a:srgbClr val="15202B"/>
                          </a:solidFill>
                          <a:latin typeface="Arial"/>
                        </a:rPr>
                        <a:t>885 img/s</a:t>
                      </a:r>
                    </a:p>
                  </a:txBody>
                  <a:tcPr marL="76200" marR="76200" marT="63500" marB="63500" anchor="ctr">
                    <a:solidFill>
                      <a:srgbClr val="E7F0FB"/>
                    </a:solidFill>
                  </a:tcPr>
                </a:tc>
                <a:tc>
                  <a:txBody>
                    <a:bodyPr/>
                    <a:lstStyle/>
                    <a:p>
                      <a:pPr algn="r">
                        <a:lnSpc>
                          <a:spcPts val="1609"/>
                        </a:lnSpc>
                      </a:pPr>
                      <a:r>
                        <a:rPr sz="1400" b="1">
                          <a:solidFill>
                            <a:srgbClr val="15202B"/>
                          </a:solidFill>
                          <a:latin typeface="Arial"/>
                        </a:rPr>
                        <a:t>19.9 GB</a:t>
                      </a:r>
                    </a:p>
                  </a:txBody>
                  <a:tcPr marL="76200" marR="76200" marT="63500" marB="63500" anchor="ctr">
                    <a:solidFill>
                      <a:srgbClr val="E7F0FB"/>
                    </a:solidFill>
                  </a:tcPr>
                </a:tc>
                <a:tc>
                  <a:txBody>
                    <a:bodyPr/>
                    <a:lstStyle/>
                    <a:p>
                      <a:pPr algn="r">
                        <a:lnSpc>
                          <a:spcPts val="1609"/>
                        </a:lnSpc>
                      </a:pPr>
                      <a:r>
                        <a:rPr sz="1400" b="1">
                          <a:solidFill>
                            <a:srgbClr val="15202B"/>
                          </a:solidFill>
                          <a:latin typeface="Arial"/>
                        </a:rPr>
                        <a:t>7.03 ms</a:t>
                      </a:r>
                    </a:p>
                  </a:txBody>
                  <a:tcPr marL="76200" marR="76200" marT="63500" marB="63500" anchor="ctr">
                    <a:solidFill>
                      <a:srgbClr val="E7F0FB"/>
                    </a:solidFill>
                  </a:tcPr>
                </a:tc>
              </a:tr>
              <a:tr h="331470">
                <a:tc>
                  <a:txBody>
                    <a:bodyPr/>
                    <a:lstStyle/>
                    <a:p>
                      <a:pPr algn="l">
                        <a:lnSpc>
                          <a:spcPts val="1609"/>
                        </a:lnSpc>
                      </a:pPr>
                      <a:r>
                        <a:rPr sz="1400" b="0">
                          <a:solidFill>
                            <a:srgbClr val="15202B"/>
                          </a:solidFill>
                          <a:latin typeface="Arial"/>
                        </a:rPr>
                        <a:t>AdaptFormer (parallel to the MLP)</a:t>
                      </a:r>
                    </a:p>
                  </a:txBody>
                  <a:tcPr marL="76200" marR="76200" marT="63500" marB="63500" anchor="ctr">
                    <a:solidFill>
                      <a:srgbClr val="F4F2EE"/>
                    </a:solidFill>
                  </a:tcPr>
                </a:tc>
                <a:tc>
                  <a:txBody>
                    <a:bodyPr/>
                    <a:lstStyle/>
                    <a:p>
                      <a:pPr algn="r">
                        <a:lnSpc>
                          <a:spcPts val="1609"/>
                        </a:lnSpc>
                      </a:pPr>
                      <a:r>
                        <a:rPr sz="1400" b="0">
                          <a:solidFill>
                            <a:srgbClr val="15202B"/>
                          </a:solidFill>
                          <a:latin typeface="Arial"/>
                        </a:rPr>
                        <a:t>1.387%</a:t>
                      </a:r>
                    </a:p>
                  </a:txBody>
                  <a:tcPr marL="76200" marR="76200" marT="63500" marB="63500" anchor="ctr">
                    <a:solidFill>
                      <a:srgbClr val="F4F2EE"/>
                    </a:solidFill>
                  </a:tcPr>
                </a:tc>
                <a:tc>
                  <a:txBody>
                    <a:bodyPr/>
                    <a:lstStyle/>
                    <a:p>
                      <a:pPr algn="r">
                        <a:lnSpc>
                          <a:spcPts val="1609"/>
                        </a:lnSpc>
                      </a:pPr>
                      <a:r>
                        <a:rPr sz="1400" b="0">
                          <a:solidFill>
                            <a:srgbClr val="15202B"/>
                          </a:solidFill>
                          <a:latin typeface="Arial"/>
                        </a:rPr>
                        <a:t>69.05%</a:t>
                      </a:r>
                    </a:p>
                  </a:txBody>
                  <a:tcPr marL="76200" marR="76200" marT="63500" marB="63500" anchor="ctr">
                    <a:solidFill>
                      <a:srgbClr val="F4F2EE"/>
                    </a:solidFill>
                  </a:tcPr>
                </a:tc>
                <a:tc>
                  <a:txBody>
                    <a:bodyPr/>
                    <a:lstStyle/>
                    <a:p>
                      <a:pPr algn="r">
                        <a:lnSpc>
                          <a:spcPts val="1609"/>
                        </a:lnSpc>
                      </a:pPr>
                      <a:r>
                        <a:rPr sz="1400" b="0">
                          <a:solidFill>
                            <a:srgbClr val="15202B"/>
                          </a:solidFill>
                          <a:latin typeface="Arial"/>
                        </a:rPr>
                        <a:t>1,437 img/s</a:t>
                      </a:r>
                    </a:p>
                  </a:txBody>
                  <a:tcPr marL="76200" marR="76200" marT="63500" marB="63500" anchor="ctr">
                    <a:solidFill>
                      <a:srgbClr val="F4F2EE"/>
                    </a:solidFill>
                  </a:tcPr>
                </a:tc>
                <a:tc>
                  <a:txBody>
                    <a:bodyPr/>
                    <a:lstStyle/>
                    <a:p>
                      <a:pPr algn="r">
                        <a:lnSpc>
                          <a:spcPts val="1609"/>
                        </a:lnSpc>
                      </a:pPr>
                      <a:r>
                        <a:rPr sz="1400" b="0">
                          <a:solidFill>
                            <a:srgbClr val="15202B"/>
                          </a:solidFill>
                          <a:latin typeface="Arial"/>
                        </a:rPr>
                        <a:t>12.8 GB</a:t>
                      </a:r>
                    </a:p>
                  </a:txBody>
                  <a:tcPr marL="76200" marR="76200" marT="63500" marB="63500" anchor="ctr">
                    <a:solidFill>
                      <a:srgbClr val="F4F2EE"/>
                    </a:solidFill>
                  </a:tcPr>
                </a:tc>
                <a:tc>
                  <a:txBody>
                    <a:bodyPr/>
                    <a:lstStyle/>
                    <a:p>
                      <a:pPr algn="r">
                        <a:lnSpc>
                          <a:spcPts val="1609"/>
                        </a:lnSpc>
                      </a:pPr>
                      <a:r>
                        <a:rPr sz="1400" b="0">
                          <a:solidFill>
                            <a:srgbClr val="15202B"/>
                          </a:solidFill>
                          <a:latin typeface="Arial"/>
                        </a:rPr>
                        <a:t>9.89 ms</a:t>
                      </a:r>
                    </a:p>
                  </a:txBody>
                  <a:tcPr marL="76200" marR="76200" marT="63500" marB="63500" anchor="ctr">
                    <a:solidFill>
                      <a:srgbClr val="F4F2EE"/>
                    </a:solidFill>
                  </a:tcPr>
                </a:tc>
              </a:tr>
              <a:tr h="331470">
                <a:tc>
                  <a:txBody>
                    <a:bodyPr/>
                    <a:lstStyle/>
                    <a:p>
                      <a:pPr algn="l">
                        <a:lnSpc>
                          <a:spcPts val="1609"/>
                        </a:lnSpc>
                      </a:pPr>
                      <a:r>
                        <a:rPr sz="1400" b="0">
                          <a:solidFill>
                            <a:srgbClr val="15202B"/>
                          </a:solidFill>
                          <a:latin typeface="Arial"/>
                        </a:rPr>
                        <a:t>Full fine-tuning (reference)</a:t>
                      </a:r>
                    </a:p>
                  </a:txBody>
                  <a:tcPr marL="76200" marR="76200" marT="63500" marB="63500" anchor="ctr">
                    <a:solidFill>
                      <a:srgbClr val="FFFFFF"/>
                    </a:solidFill>
                  </a:tcPr>
                </a:tc>
                <a:tc>
                  <a:txBody>
                    <a:bodyPr/>
                    <a:lstStyle/>
                    <a:p>
                      <a:pPr algn="r">
                        <a:lnSpc>
                          <a:spcPts val="1609"/>
                        </a:lnSpc>
                      </a:pPr>
                      <a:r>
                        <a:rPr sz="1400" b="0">
                          <a:solidFill>
                            <a:srgbClr val="15202B"/>
                          </a:solidFill>
                          <a:latin typeface="Arial"/>
                        </a:rPr>
                        <a:t>100%</a:t>
                      </a:r>
                    </a:p>
                  </a:txBody>
                  <a:tcPr marL="76200" marR="76200" marT="63500" marB="63500" anchor="ctr">
                    <a:solidFill>
                      <a:srgbClr val="FFFFFF"/>
                    </a:solidFill>
                  </a:tcPr>
                </a:tc>
                <a:tc>
                  <a:txBody>
                    <a:bodyPr/>
                    <a:lstStyle/>
                    <a:p>
                      <a:pPr algn="r">
                        <a:lnSpc>
                          <a:spcPts val="1609"/>
                        </a:lnSpc>
                      </a:pPr>
                      <a:r>
                        <a:rPr sz="1400" b="0">
                          <a:solidFill>
                            <a:srgbClr val="15202B"/>
                          </a:solidFill>
                          <a:latin typeface="Arial"/>
                        </a:rPr>
                        <a:t>70.88%</a:t>
                      </a:r>
                    </a:p>
                  </a:txBody>
                  <a:tcPr marL="76200" marR="76200" marT="63500" marB="63500" anchor="ctr">
                    <a:solidFill>
                      <a:srgbClr val="FFFFFF"/>
                    </a:solidFill>
                  </a:tcPr>
                </a:tc>
                <a:tc>
                  <a:txBody>
                    <a:bodyPr/>
                    <a:lstStyle/>
                    <a:p>
                      <a:pPr algn="r">
                        <a:lnSpc>
                          <a:spcPts val="1609"/>
                        </a:lnSpc>
                      </a:pPr>
                      <a:r>
                        <a:rPr sz="1400" b="0">
                          <a:solidFill>
                            <a:srgbClr val="15202B"/>
                          </a:solidFill>
                          <a:latin typeface="Arial"/>
                        </a:rPr>
                        <a:t>1,131 img/s</a:t>
                      </a:r>
                    </a:p>
                  </a:txBody>
                  <a:tcPr marL="76200" marR="76200" marT="63500" marB="63500" anchor="ctr">
                    <a:solidFill>
                      <a:srgbClr val="FFFFFF"/>
                    </a:solidFill>
                  </a:tcPr>
                </a:tc>
                <a:tc>
                  <a:txBody>
                    <a:bodyPr/>
                    <a:lstStyle/>
                    <a:p>
                      <a:pPr algn="r">
                        <a:lnSpc>
                          <a:spcPts val="1609"/>
                        </a:lnSpc>
                      </a:pPr>
                      <a:r>
                        <a:rPr sz="1400" b="0">
                          <a:solidFill>
                            <a:srgbClr val="15202B"/>
                          </a:solidFill>
                          <a:latin typeface="Arial"/>
                        </a:rPr>
                        <a:t>18.9 GB</a:t>
                      </a:r>
                    </a:p>
                  </a:txBody>
                  <a:tcPr marL="76200" marR="76200" marT="63500" marB="63500" anchor="ctr">
                    <a:solidFill>
                      <a:srgbClr val="FFFFFF"/>
                    </a:solidFill>
                  </a:tcPr>
                </a:tc>
                <a:tc>
                  <a:txBody>
                    <a:bodyPr/>
                    <a:lstStyle/>
                    <a:p>
                      <a:pPr algn="r">
                        <a:lnSpc>
                          <a:spcPts val="1609"/>
                        </a:lnSpc>
                      </a:pPr>
                      <a:r>
                        <a:rPr sz="1400" b="0">
                          <a:solidFill>
                            <a:srgbClr val="15202B"/>
                          </a:solidFill>
                          <a:latin typeface="Arial"/>
                        </a:rPr>
                        <a:t>7.31 ms</a:t>
                      </a:r>
                    </a:p>
                  </a:txBody>
                  <a:tcPr marL="76200" marR="76200" marT="63500" marB="63500" anchor="ctr">
                    <a:solidFill>
                      <a:srgbClr val="FFFFFF"/>
                    </a:solidFill>
                  </a:tcPr>
                </a:tc>
              </a:tr>
            </a:tbl>
          </a:graphicData>
        </a:graphic>
      </p:graphicFrame>
      <p:sp>
        <p:nvSpPr>
          <p:cNvPr id="5" name="TextBox 4"/>
          <p:cNvSpPr txBox="1"/>
          <p:nvPr/>
        </p:nvSpPr>
        <p:spPr>
          <a:xfrm>
            <a:off x="812800" y="4562348"/>
            <a:ext cx="10566400" cy="514350"/>
          </a:xfrm>
          <a:prstGeom prst="rect">
            <a:avLst/>
          </a:prstGeom>
          <a:noFill/>
        </p:spPr>
        <p:txBody>
          <a:bodyPr wrap="square" lIns="0" rIns="0" tIns="0" bIns="0" anchor="t">
            <a:noAutofit/>
          </a:bodyPr>
          <a:lstStyle/>
          <a:p>
            <a:pPr algn="l">
              <a:lnSpc>
                <a:spcPts val="2025"/>
              </a:lnSpc>
            </a:pPr>
            <a:r>
              <a:rPr sz="1500" b="0">
                <a:solidFill>
                  <a:srgbClr val="4A5563"/>
                </a:solidFill>
                <a:latin typeface="Arial"/>
              </a:rPr>
              <a:t>Letting LoRA adapt the MLP adds 0.88 points; halving the learning rate changes nothing (−0.12, within noise). AdaptFormer comes close, but it cannot be merged into the backbone, so it is about 35% slower at batch size 1.</a:t>
            </a:r>
          </a:p>
        </p:txBody>
      </p:sp>
      <p:sp>
        <p:nvSpPr>
          <p:cNvPr id="6" name="TextBox 5"/>
          <p:cNvSpPr txBox="1"/>
          <p:nvPr/>
        </p:nvSpPr>
        <p:spPr>
          <a:xfrm>
            <a:off x="812800" y="6400800"/>
            <a:ext cx="9144000" cy="167640"/>
          </a:xfrm>
          <a:prstGeom prst="rect">
            <a:avLst/>
          </a:prstGeom>
          <a:noFill/>
        </p:spPr>
        <p:txBody>
          <a:bodyPr wrap="square" lIns="0" rIns="0" tIns="0" bIns="0" anchor="t">
            <a:noAutofit/>
          </a:bodyPr>
          <a:lstStyle/>
          <a:p>
            <a:pPr algn="l">
              <a:lnSpc>
                <a:spcPts val="1320"/>
              </a:lnSpc>
            </a:pPr>
            <a:r>
              <a:rPr sz="1100" b="0">
                <a:solidFill>
                  <a:srgbClr val="6B7280"/>
                </a:solidFill>
                <a:latin typeface="Arial"/>
              </a:rPr>
              <a:t>CS604 · Team 06 · All on an A100-80GB, bf16</a:t>
            </a:r>
          </a:p>
        </p:txBody>
      </p:sp>
      <p:sp>
        <p:nvSpPr>
          <p:cNvPr id="7" name="TextBox 6"/>
          <p:cNvSpPr txBox="1"/>
          <p:nvPr/>
        </p:nvSpPr>
        <p:spPr>
          <a:xfrm>
            <a:off x="10363200" y="6400800"/>
            <a:ext cx="1016000" cy="167640"/>
          </a:xfrm>
          <a:prstGeom prst="rect">
            <a:avLst/>
          </a:prstGeom>
          <a:noFill/>
        </p:spPr>
        <p:txBody>
          <a:bodyPr wrap="square" lIns="0" rIns="0" tIns="0" bIns="0" anchor="t">
            <a:noAutofit/>
          </a:bodyPr>
          <a:lstStyle/>
          <a:p>
            <a:pPr algn="r">
              <a:lnSpc>
                <a:spcPts val="1320"/>
              </a:lnSpc>
            </a:pPr>
            <a:r>
              <a:rPr sz="1100" b="0">
                <a:solidFill>
                  <a:srgbClr val="6B7280"/>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itle 1"/>
          <p:cNvSpPr>
            <a:spLocks noGrp="1"/>
          </p:cNvSpPr>
          <p:nvPr>
            <p:ph type="title"/>
          </p:nvPr>
        </p:nvSpPr>
        <p:spPr>
          <a:xfrm>
            <a:off x="812800" y="889000"/>
            <a:ext cx="10566400" cy="1024128"/>
          </a:xfrm>
        </p:spPr>
        <p:txBody>
          <a:bodyPr wrap="square" lIns="0" rIns="0" tIns="0" bIns="0" anchor="t">
            <a:noAutofit/>
          </a:bodyPr>
          <a:lstStyle/>
          <a:p>
            <a:pPr algn="l">
              <a:lnSpc>
                <a:spcPts val="4032"/>
              </a:lnSpc>
            </a:pPr>
            <a:r>
              <a:rPr sz="3600" b="1">
                <a:solidFill>
                  <a:srgbClr val="15202B"/>
                </a:solidFill>
                <a:latin typeface="Georgia"/>
              </a:rPr>
              <a:t>More epochs help full fine-tuning, not LoRA</a:t>
            </a:r>
          </a:p>
        </p:txBody>
      </p:sp>
      <p:sp>
        <p:nvSpPr>
          <p:cNvPr id="3" name="TextBox 2"/>
          <p:cNvSpPr txBox="1"/>
          <p:nvPr/>
        </p:nvSpPr>
        <p:spPr>
          <a:xfrm>
            <a:off x="812800" y="635000"/>
            <a:ext cx="10566400" cy="182880"/>
          </a:xfrm>
          <a:prstGeom prst="rect">
            <a:avLst/>
          </a:prstGeom>
          <a:noFill/>
        </p:spPr>
        <p:txBody>
          <a:bodyPr wrap="square" lIns="0" rIns="0" tIns="0" bIns="0" anchor="t">
            <a:noAutofit/>
          </a:bodyPr>
          <a:lstStyle/>
          <a:p>
            <a:pPr algn="l">
              <a:lnSpc>
                <a:spcPts val="1439"/>
              </a:lnSpc>
            </a:pPr>
            <a:r>
              <a:rPr sz="1200" b="1" spc="150">
                <a:solidFill>
                  <a:srgbClr val="1F5FAD"/>
                </a:solidFill>
                <a:latin typeface="Arial"/>
              </a:rPr>
              <a:t>FINDING 3</a:t>
            </a:r>
          </a:p>
        </p:txBody>
      </p:sp>
      <p:graphicFrame>
        <p:nvGraphicFramePr>
          <p:cNvPr id="4" name="Table 3"/>
          <p:cNvGraphicFramePr>
            <a:graphicFrameLocks noGrp="1"/>
          </p:cNvGraphicFramePr>
          <p:nvPr/>
        </p:nvGraphicFramePr>
        <p:xfrm>
          <a:off x="812800" y="2217928"/>
          <a:ext cx="10566400" cy="1988820"/>
        </p:xfrm>
        <a:graphic>
          <a:graphicData uri="http://schemas.openxmlformats.org/drawingml/2006/table">
            <a:tbl>
              <a:tblPr firstRow="1">
                <a:tableStyleId>{5C22544A-7EE6-4342-B048-85BDC9FD1C3A}</a:tableStyleId>
              </a:tblPr>
              <a:tblGrid>
                <a:gridCol w="5588000"/>
                <a:gridCol w="1727200"/>
                <a:gridCol w="1727200"/>
                <a:gridCol w="1524000"/>
              </a:tblGrid>
              <a:tr h="331470">
                <a:tc>
                  <a:txBody>
                    <a:bodyPr/>
                    <a:lstStyle/>
                    <a:p>
                      <a:pPr algn="l">
                        <a:lnSpc>
                          <a:spcPts val="1609"/>
                        </a:lnSpc>
                      </a:pPr>
                      <a:r>
                        <a:rPr sz="1400" b="1">
                          <a:solidFill>
                            <a:srgbClr val="15202B"/>
                          </a:solidFill>
                          <a:latin typeface="Arial"/>
                        </a:rPr>
                        <a:t>Setting</a:t>
                      </a:r>
                    </a:p>
                  </a:txBody>
                  <a:tcPr marL="76200" marR="76200" marT="63500" marB="63500" anchor="ctr">
                    <a:solidFill>
                      <a:srgbClr val="E6E2DA"/>
                    </a:solidFill>
                  </a:tcPr>
                </a:tc>
                <a:tc>
                  <a:txBody>
                    <a:bodyPr/>
                    <a:lstStyle/>
                    <a:p>
                      <a:pPr algn="r">
                        <a:lnSpc>
                          <a:spcPts val="1609"/>
                        </a:lnSpc>
                      </a:pPr>
                      <a:r>
                        <a:rPr sz="1400" b="1">
                          <a:solidFill>
                            <a:srgbClr val="15202B"/>
                          </a:solidFill>
                          <a:latin typeface="Arial"/>
                        </a:rPr>
                        <a:t>Shorter</a:t>
                      </a:r>
                    </a:p>
                  </a:txBody>
                  <a:tcPr marL="76200" marR="76200" marT="63500" marB="63500" anchor="ctr">
                    <a:solidFill>
                      <a:srgbClr val="E6E2DA"/>
                    </a:solidFill>
                  </a:tcPr>
                </a:tc>
                <a:tc>
                  <a:txBody>
                    <a:bodyPr/>
                    <a:lstStyle/>
                    <a:p>
                      <a:pPr algn="r">
                        <a:lnSpc>
                          <a:spcPts val="1609"/>
                        </a:lnSpc>
                      </a:pPr>
                      <a:r>
                        <a:rPr sz="1400" b="1">
                          <a:solidFill>
                            <a:srgbClr val="15202B"/>
                          </a:solidFill>
                          <a:latin typeface="Arial"/>
                        </a:rPr>
                        <a:t>Longer</a:t>
                      </a:r>
                    </a:p>
                  </a:txBody>
                  <a:tcPr marL="76200" marR="76200" marT="63500" marB="63500" anchor="ctr">
                    <a:solidFill>
                      <a:srgbClr val="E6E2DA"/>
                    </a:solidFill>
                  </a:tcPr>
                </a:tc>
                <a:tc>
                  <a:txBody>
                    <a:bodyPr/>
                    <a:lstStyle/>
                    <a:p>
                      <a:pPr algn="r">
                        <a:lnSpc>
                          <a:spcPts val="1609"/>
                        </a:lnSpc>
                      </a:pPr>
                      <a:r>
                        <a:rPr sz="1400" b="1">
                          <a:solidFill>
                            <a:srgbClr val="15202B"/>
                          </a:solidFill>
                          <a:latin typeface="Arial"/>
                        </a:rPr>
                        <a:t>Change</a:t>
                      </a:r>
                    </a:p>
                  </a:txBody>
                  <a:tcPr marL="76200" marR="76200" marT="63500" marB="63500" anchor="ctr">
                    <a:solidFill>
                      <a:srgbClr val="E6E2DA"/>
                    </a:solidFill>
                  </a:tcPr>
                </a:tc>
              </a:tr>
              <a:tr h="331470">
                <a:tc>
                  <a:txBody>
                    <a:bodyPr/>
                    <a:lstStyle/>
                    <a:p>
                      <a:pPr algn="l">
                        <a:lnSpc>
                          <a:spcPts val="1609"/>
                        </a:lnSpc>
                      </a:pPr>
                      <a:r>
                        <a:rPr sz="1400" b="0">
                          <a:solidFill>
                            <a:srgbClr val="15202B"/>
                          </a:solidFill>
                          <a:latin typeface="Arial"/>
                        </a:rPr>
                        <a:t>Full fine-tuning, lp head (holdout)</a:t>
                      </a:r>
                    </a:p>
                  </a:txBody>
                  <a:tcPr marL="76200" marR="76200" marT="63500" marB="63500" anchor="ctr">
                    <a:solidFill>
                      <a:srgbClr val="FFFFFF"/>
                    </a:solidFill>
                  </a:tcPr>
                </a:tc>
                <a:tc>
                  <a:txBody>
                    <a:bodyPr/>
                    <a:lstStyle/>
                    <a:p>
                      <a:pPr algn="r">
                        <a:lnSpc>
                          <a:spcPts val="1609"/>
                        </a:lnSpc>
                      </a:pPr>
                      <a:r>
                        <a:rPr sz="1400" b="0">
                          <a:solidFill>
                            <a:srgbClr val="15202B"/>
                          </a:solidFill>
                          <a:latin typeface="Arial"/>
                        </a:rPr>
                        <a:t>3 ep: 70.88%</a:t>
                      </a:r>
                    </a:p>
                  </a:txBody>
                  <a:tcPr marL="76200" marR="76200" marT="63500" marB="63500" anchor="ctr">
                    <a:solidFill>
                      <a:srgbClr val="FFFFFF"/>
                    </a:solidFill>
                  </a:tcPr>
                </a:tc>
                <a:tc>
                  <a:txBody>
                    <a:bodyPr/>
                    <a:lstStyle/>
                    <a:p>
                      <a:pPr algn="r">
                        <a:lnSpc>
                          <a:spcPts val="1609"/>
                        </a:lnSpc>
                      </a:pPr>
                      <a:r>
                        <a:rPr sz="1400" b="0">
                          <a:solidFill>
                            <a:srgbClr val="15202B"/>
                          </a:solidFill>
                          <a:latin typeface="Arial"/>
                        </a:rPr>
                        <a:t>8 ep: 72.31%</a:t>
                      </a:r>
                    </a:p>
                  </a:txBody>
                  <a:tcPr marL="76200" marR="76200" marT="63500" marB="63500" anchor="ctr">
                    <a:solidFill>
                      <a:srgbClr val="FFFFFF"/>
                    </a:solidFill>
                  </a:tcPr>
                </a:tc>
                <a:tc>
                  <a:txBody>
                    <a:bodyPr/>
                    <a:lstStyle/>
                    <a:p>
                      <a:pPr algn="r">
                        <a:lnSpc>
                          <a:spcPts val="1609"/>
                        </a:lnSpc>
                      </a:pPr>
                      <a:r>
                        <a:rPr sz="1400" b="0">
                          <a:solidFill>
                            <a:srgbClr val="15202B"/>
                          </a:solidFill>
                          <a:latin typeface="Arial"/>
                        </a:rPr>
                        <a:t>+1.43</a:t>
                      </a:r>
                    </a:p>
                  </a:txBody>
                  <a:tcPr marL="76200" marR="76200" marT="63500" marB="63500" anchor="ctr">
                    <a:solidFill>
                      <a:srgbClr val="FFFFFF"/>
                    </a:solidFill>
                  </a:tcPr>
                </a:tc>
              </a:tr>
              <a:tr h="331470">
                <a:tc>
                  <a:txBody>
                    <a:bodyPr/>
                    <a:lstStyle/>
                    <a:p>
                      <a:pPr algn="l">
                        <a:lnSpc>
                          <a:spcPts val="1609"/>
                        </a:lnSpc>
                      </a:pPr>
                      <a:r>
                        <a:rPr sz="1400" b="1">
                          <a:solidFill>
                            <a:srgbClr val="15202B"/>
                          </a:solidFill>
                          <a:latin typeface="Arial"/>
                        </a:rPr>
                        <a:t>Full fine-tuning, proto head, all data, flip TTA (CodaBench)</a:t>
                      </a:r>
                    </a:p>
                  </a:txBody>
                  <a:tcPr marL="76200" marR="76200" marT="63500" marB="63500" anchor="ctr">
                    <a:solidFill>
                      <a:srgbClr val="E7F0FB"/>
                    </a:solidFill>
                  </a:tcPr>
                </a:tc>
                <a:tc>
                  <a:txBody>
                    <a:bodyPr/>
                    <a:lstStyle/>
                    <a:p>
                      <a:pPr algn="r">
                        <a:lnSpc>
                          <a:spcPts val="1609"/>
                        </a:lnSpc>
                      </a:pPr>
                      <a:r>
                        <a:rPr sz="1400" b="1">
                          <a:solidFill>
                            <a:srgbClr val="15202B"/>
                          </a:solidFill>
                          <a:latin typeface="Arial"/>
                        </a:rPr>
                        <a:t>3 ep: 74.01%</a:t>
                      </a:r>
                    </a:p>
                  </a:txBody>
                  <a:tcPr marL="76200" marR="76200" marT="63500" marB="63500" anchor="ctr">
                    <a:solidFill>
                      <a:srgbClr val="E7F0FB"/>
                    </a:solidFill>
                  </a:tcPr>
                </a:tc>
                <a:tc>
                  <a:txBody>
                    <a:bodyPr/>
                    <a:lstStyle/>
                    <a:p>
                      <a:pPr algn="r">
                        <a:lnSpc>
                          <a:spcPts val="1609"/>
                        </a:lnSpc>
                      </a:pPr>
                      <a:r>
                        <a:rPr sz="1400" b="1">
                          <a:solidFill>
                            <a:srgbClr val="15202B"/>
                          </a:solidFill>
                          <a:latin typeface="Arial"/>
                        </a:rPr>
                        <a:t>8 ep: 76.22%</a:t>
                      </a:r>
                    </a:p>
                  </a:txBody>
                  <a:tcPr marL="76200" marR="76200" marT="63500" marB="63500" anchor="ctr">
                    <a:solidFill>
                      <a:srgbClr val="E7F0FB"/>
                    </a:solidFill>
                  </a:tcPr>
                </a:tc>
                <a:tc>
                  <a:txBody>
                    <a:bodyPr/>
                    <a:lstStyle/>
                    <a:p>
                      <a:pPr algn="r">
                        <a:lnSpc>
                          <a:spcPts val="1609"/>
                        </a:lnSpc>
                      </a:pPr>
                      <a:r>
                        <a:rPr sz="1400" b="1">
                          <a:solidFill>
                            <a:srgbClr val="15202B"/>
                          </a:solidFill>
                          <a:latin typeface="Arial"/>
                        </a:rPr>
                        <a:t>+2.21</a:t>
                      </a:r>
                    </a:p>
                  </a:txBody>
                  <a:tcPr marL="76200" marR="76200" marT="63500" marB="63500" anchor="ctr">
                    <a:solidFill>
                      <a:srgbClr val="E7F0FB"/>
                    </a:solidFill>
                  </a:tcPr>
                </a:tc>
              </a:tr>
              <a:tr h="331470">
                <a:tc>
                  <a:txBody>
                    <a:bodyPr/>
                    <a:lstStyle/>
                    <a:p>
                      <a:pPr algn="l">
                        <a:lnSpc>
                          <a:spcPts val="1609"/>
                        </a:lnSpc>
                      </a:pPr>
                      <a:r>
                        <a:rPr sz="1400" b="0">
                          <a:solidFill>
                            <a:srgbClr val="15202B"/>
                          </a:solidFill>
                          <a:latin typeface="Arial"/>
                        </a:rPr>
                        <a:t>LoRA on qkv, lp head (holdout) *</a:t>
                      </a:r>
                    </a:p>
                  </a:txBody>
                  <a:tcPr marL="76200" marR="76200" marT="63500" marB="63500" anchor="ctr">
                    <a:solidFill>
                      <a:srgbClr val="FFFFFF"/>
                    </a:solidFill>
                  </a:tcPr>
                </a:tc>
                <a:tc>
                  <a:txBody>
                    <a:bodyPr/>
                    <a:lstStyle/>
                    <a:p>
                      <a:pPr algn="r">
                        <a:lnSpc>
                          <a:spcPts val="1609"/>
                        </a:lnSpc>
                      </a:pPr>
                      <a:r>
                        <a:rPr sz="1400" b="0">
                          <a:solidFill>
                            <a:srgbClr val="15202B"/>
                          </a:solidFill>
                          <a:latin typeface="Arial"/>
                        </a:rPr>
                        <a:t>3 ep: 68.57%</a:t>
                      </a:r>
                    </a:p>
                  </a:txBody>
                  <a:tcPr marL="76200" marR="76200" marT="63500" marB="63500" anchor="ctr">
                    <a:solidFill>
                      <a:srgbClr val="FFFFFF"/>
                    </a:solidFill>
                  </a:tcPr>
                </a:tc>
                <a:tc>
                  <a:txBody>
                    <a:bodyPr/>
                    <a:lstStyle/>
                    <a:p>
                      <a:pPr algn="r">
                        <a:lnSpc>
                          <a:spcPts val="1609"/>
                        </a:lnSpc>
                      </a:pPr>
                      <a:r>
                        <a:rPr sz="1400" b="0">
                          <a:solidFill>
                            <a:srgbClr val="15202B"/>
                          </a:solidFill>
                          <a:latin typeface="Arial"/>
                        </a:rPr>
                        <a:t>10 ep: 68.69%</a:t>
                      </a:r>
                    </a:p>
                  </a:txBody>
                  <a:tcPr marL="76200" marR="76200" marT="63500" marB="63500" anchor="ctr">
                    <a:solidFill>
                      <a:srgbClr val="FFFFFF"/>
                    </a:solidFill>
                  </a:tcPr>
                </a:tc>
                <a:tc>
                  <a:txBody>
                    <a:bodyPr/>
                    <a:lstStyle/>
                    <a:p>
                      <a:pPr algn="r">
                        <a:lnSpc>
                          <a:spcPts val="1609"/>
                        </a:lnSpc>
                      </a:pPr>
                      <a:r>
                        <a:rPr sz="1400" b="0">
                          <a:solidFill>
                            <a:srgbClr val="15202B"/>
                          </a:solidFill>
                          <a:latin typeface="Arial"/>
                        </a:rPr>
                        <a:t>+0.12</a:t>
                      </a:r>
                    </a:p>
                  </a:txBody>
                  <a:tcPr marL="76200" marR="76200" marT="63500" marB="63500" anchor="ctr">
                    <a:solidFill>
                      <a:srgbClr val="FFFFFF"/>
                    </a:solidFill>
                  </a:tcPr>
                </a:tc>
              </a:tr>
              <a:tr h="331470">
                <a:tc>
                  <a:txBody>
                    <a:bodyPr/>
                    <a:lstStyle/>
                    <a:p>
                      <a:pPr algn="l">
                        <a:lnSpc>
                          <a:spcPts val="1609"/>
                        </a:lnSpc>
                      </a:pPr>
                      <a:r>
                        <a:rPr sz="1400" b="0">
                          <a:solidFill>
                            <a:srgbClr val="15202B"/>
                          </a:solidFill>
                          <a:latin typeface="Arial"/>
                        </a:rPr>
                        <a:t>LoRA on all linear layers, lp head (holdout)</a:t>
                      </a:r>
                    </a:p>
                  </a:txBody>
                  <a:tcPr marL="76200" marR="76200" marT="63500" marB="63500" anchor="ctr">
                    <a:solidFill>
                      <a:srgbClr val="F4F2EE"/>
                    </a:solidFill>
                  </a:tcPr>
                </a:tc>
                <a:tc>
                  <a:txBody>
                    <a:bodyPr/>
                    <a:lstStyle/>
                    <a:p>
                      <a:pPr algn="r">
                        <a:lnSpc>
                          <a:spcPts val="1609"/>
                        </a:lnSpc>
                      </a:pPr>
                      <a:r>
                        <a:rPr sz="1400" b="0">
                          <a:solidFill>
                            <a:srgbClr val="15202B"/>
                          </a:solidFill>
                          <a:latin typeface="Arial"/>
                        </a:rPr>
                        <a:t>3 ep: 69.45%</a:t>
                      </a:r>
                    </a:p>
                  </a:txBody>
                  <a:tcPr marL="76200" marR="76200" marT="63500" marB="63500" anchor="ctr">
                    <a:solidFill>
                      <a:srgbClr val="F4F2EE"/>
                    </a:solidFill>
                  </a:tcPr>
                </a:tc>
                <a:tc>
                  <a:txBody>
                    <a:bodyPr/>
                    <a:lstStyle/>
                    <a:p>
                      <a:pPr algn="r">
                        <a:lnSpc>
                          <a:spcPts val="1609"/>
                        </a:lnSpc>
                      </a:pPr>
                      <a:r>
                        <a:rPr sz="1400" b="0">
                          <a:solidFill>
                            <a:srgbClr val="15202B"/>
                          </a:solidFill>
                          <a:latin typeface="Arial"/>
                        </a:rPr>
                        <a:t>6 ep: 69.87%</a:t>
                      </a:r>
                    </a:p>
                  </a:txBody>
                  <a:tcPr marL="76200" marR="76200" marT="63500" marB="63500" anchor="ctr">
                    <a:solidFill>
                      <a:srgbClr val="F4F2EE"/>
                    </a:solidFill>
                  </a:tcPr>
                </a:tc>
                <a:tc>
                  <a:txBody>
                    <a:bodyPr/>
                    <a:lstStyle/>
                    <a:p>
                      <a:pPr algn="r">
                        <a:lnSpc>
                          <a:spcPts val="1609"/>
                        </a:lnSpc>
                      </a:pPr>
                      <a:r>
                        <a:rPr sz="1400" b="0">
                          <a:solidFill>
                            <a:srgbClr val="15202B"/>
                          </a:solidFill>
                          <a:latin typeface="Arial"/>
                        </a:rPr>
                        <a:t>+0.42</a:t>
                      </a:r>
                    </a:p>
                  </a:txBody>
                  <a:tcPr marL="76200" marR="76200" marT="63500" marB="63500" anchor="ctr">
                    <a:solidFill>
                      <a:srgbClr val="F4F2EE"/>
                    </a:solidFill>
                  </a:tcPr>
                </a:tc>
              </a:tr>
              <a:tr h="331470">
                <a:tc>
                  <a:txBody>
                    <a:bodyPr/>
                    <a:lstStyle/>
                    <a:p>
                      <a:pPr algn="l">
                        <a:lnSpc>
                          <a:spcPts val="1609"/>
                        </a:lnSpc>
                      </a:pPr>
                      <a:r>
                        <a:rPr sz="1400" b="0">
                          <a:solidFill>
                            <a:srgbClr val="15202B"/>
                          </a:solidFill>
                          <a:latin typeface="Arial"/>
                        </a:rPr>
                        <a:t>LoRA on all linear layers, proto head (holdout)</a:t>
                      </a:r>
                    </a:p>
                  </a:txBody>
                  <a:tcPr marL="76200" marR="76200" marT="63500" marB="63500" anchor="ctr">
                    <a:solidFill>
                      <a:srgbClr val="FFFFFF"/>
                    </a:solidFill>
                  </a:tcPr>
                </a:tc>
                <a:tc>
                  <a:txBody>
                    <a:bodyPr/>
                    <a:lstStyle/>
                    <a:p>
                      <a:pPr algn="r">
                        <a:lnSpc>
                          <a:spcPts val="1609"/>
                        </a:lnSpc>
                      </a:pPr>
                      <a:r>
                        <a:rPr sz="1400" b="0">
                          <a:solidFill>
                            <a:srgbClr val="15202B"/>
                          </a:solidFill>
                          <a:latin typeface="Arial"/>
                        </a:rPr>
                        <a:t>3 ep: 71.98%</a:t>
                      </a:r>
                    </a:p>
                  </a:txBody>
                  <a:tcPr marL="76200" marR="76200" marT="63500" marB="63500" anchor="ctr">
                    <a:solidFill>
                      <a:srgbClr val="FFFFFF"/>
                    </a:solidFill>
                  </a:tcPr>
                </a:tc>
                <a:tc>
                  <a:txBody>
                    <a:bodyPr/>
                    <a:lstStyle/>
                    <a:p>
                      <a:pPr algn="r">
                        <a:lnSpc>
                          <a:spcPts val="1609"/>
                        </a:lnSpc>
                      </a:pPr>
                      <a:r>
                        <a:rPr sz="1400" b="0">
                          <a:solidFill>
                            <a:srgbClr val="15202B"/>
                          </a:solidFill>
                          <a:latin typeface="Arial"/>
                        </a:rPr>
                        <a:t>6 ep: 71.52%</a:t>
                      </a:r>
                    </a:p>
                  </a:txBody>
                  <a:tcPr marL="76200" marR="76200" marT="63500" marB="63500" anchor="ctr">
                    <a:solidFill>
                      <a:srgbClr val="FFFFFF"/>
                    </a:solidFill>
                  </a:tcPr>
                </a:tc>
                <a:tc>
                  <a:txBody>
                    <a:bodyPr/>
                    <a:lstStyle/>
                    <a:p>
                      <a:pPr algn="r">
                        <a:lnSpc>
                          <a:spcPts val="1609"/>
                        </a:lnSpc>
                      </a:pPr>
                      <a:r>
                        <a:rPr sz="1400" b="0">
                          <a:solidFill>
                            <a:srgbClr val="15202B"/>
                          </a:solidFill>
                          <a:latin typeface="Arial"/>
                        </a:rPr>
                        <a:t>−0.46</a:t>
                      </a:r>
                    </a:p>
                  </a:txBody>
                  <a:tcPr marL="76200" marR="76200" marT="63500" marB="63500" anchor="ctr">
                    <a:solidFill>
                      <a:srgbClr val="FFFFFF"/>
                    </a:solidFill>
                  </a:tcPr>
                </a:tc>
              </a:tr>
            </a:tbl>
          </a:graphicData>
        </a:graphic>
      </p:graphicFrame>
      <p:sp>
        <p:nvSpPr>
          <p:cNvPr id="5" name="TextBox 4"/>
          <p:cNvSpPr txBox="1"/>
          <p:nvPr/>
        </p:nvSpPr>
        <p:spPr>
          <a:xfrm>
            <a:off x="812800" y="4562348"/>
            <a:ext cx="10566400" cy="514350"/>
          </a:xfrm>
          <a:prstGeom prst="rect">
            <a:avLst/>
          </a:prstGeom>
          <a:noFill/>
        </p:spPr>
        <p:txBody>
          <a:bodyPr wrap="square" lIns="0" rIns="0" tIns="0" bIns="0" anchor="t">
            <a:noAutofit/>
          </a:bodyPr>
          <a:lstStyle/>
          <a:p>
            <a:pPr algn="l">
              <a:lnSpc>
                <a:spcPts val="2025"/>
              </a:lnSpc>
            </a:pPr>
            <a:r>
              <a:rPr sz="1500" b="0">
                <a:solidFill>
                  <a:srgbClr val="4A5563"/>
                </a:solidFill>
                <a:latin typeface="Arial"/>
              </a:rPr>
              <a:t>Full fine-tuning uses LR 1e-4 with layer-wise decay, so it moves gently and keeps improving. LoRA at LR 1e-3 starts to memorize after about 3 epochs.</a:t>
            </a:r>
          </a:p>
        </p:txBody>
      </p:sp>
      <p:sp>
        <p:nvSpPr>
          <p:cNvPr id="6" name="TextBox 5"/>
          <p:cNvSpPr txBox="1"/>
          <p:nvPr/>
        </p:nvSpPr>
        <p:spPr>
          <a:xfrm>
            <a:off x="812800" y="6400800"/>
            <a:ext cx="9144000" cy="167640"/>
          </a:xfrm>
          <a:prstGeom prst="rect">
            <a:avLst/>
          </a:prstGeom>
          <a:noFill/>
        </p:spPr>
        <p:txBody>
          <a:bodyPr wrap="square" lIns="0" rIns="0" tIns="0" bIns="0" anchor="t">
            <a:noAutofit/>
          </a:bodyPr>
          <a:lstStyle/>
          <a:p>
            <a:pPr algn="l">
              <a:lnSpc>
                <a:spcPts val="1320"/>
              </a:lnSpc>
            </a:pPr>
            <a:r>
              <a:rPr sz="1100" b="0">
                <a:solidFill>
                  <a:srgbClr val="6B7280"/>
                </a:solidFill>
                <a:latin typeface="Arial"/>
              </a:rPr>
              <a:t>CS604 · Team 06 · * this run also lowered the head LR to 2e-4</a:t>
            </a:r>
          </a:p>
        </p:txBody>
      </p:sp>
      <p:sp>
        <p:nvSpPr>
          <p:cNvPr id="7" name="TextBox 6"/>
          <p:cNvSpPr txBox="1"/>
          <p:nvPr/>
        </p:nvSpPr>
        <p:spPr>
          <a:xfrm>
            <a:off x="10363200" y="6400800"/>
            <a:ext cx="1016000" cy="167640"/>
          </a:xfrm>
          <a:prstGeom prst="rect">
            <a:avLst/>
          </a:prstGeom>
          <a:noFill/>
        </p:spPr>
        <p:txBody>
          <a:bodyPr wrap="square" lIns="0" rIns="0" tIns="0" bIns="0" anchor="t">
            <a:noAutofit/>
          </a:bodyPr>
          <a:lstStyle/>
          <a:p>
            <a:pPr algn="r">
              <a:lnSpc>
                <a:spcPts val="1320"/>
              </a:lnSpc>
            </a:pPr>
            <a:r>
              <a:rPr sz="1100" b="0">
                <a:solidFill>
                  <a:srgbClr val="6B728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itle 1"/>
          <p:cNvSpPr>
            <a:spLocks noGrp="1"/>
          </p:cNvSpPr>
          <p:nvPr>
            <p:ph type="title"/>
          </p:nvPr>
        </p:nvSpPr>
        <p:spPr>
          <a:xfrm>
            <a:off x="812800" y="889000"/>
            <a:ext cx="10566400" cy="512064"/>
          </a:xfrm>
        </p:spPr>
        <p:txBody>
          <a:bodyPr wrap="square" lIns="0" rIns="0" tIns="0" bIns="0" anchor="t">
            <a:noAutofit/>
          </a:bodyPr>
          <a:lstStyle/>
          <a:p>
            <a:pPr algn="l">
              <a:lnSpc>
                <a:spcPts val="4032"/>
              </a:lnSpc>
            </a:pPr>
            <a:r>
              <a:rPr sz="3600" b="1">
                <a:solidFill>
                  <a:srgbClr val="15202B"/>
                </a:solidFill>
                <a:latin typeface="Georgia"/>
              </a:rPr>
              <a:t>72.57% to 76.22%, one change at a time</a:t>
            </a:r>
          </a:p>
        </p:txBody>
      </p:sp>
      <p:sp>
        <p:nvSpPr>
          <p:cNvPr id="3" name="TextBox 2"/>
          <p:cNvSpPr txBox="1"/>
          <p:nvPr/>
        </p:nvSpPr>
        <p:spPr>
          <a:xfrm>
            <a:off x="812800" y="635000"/>
            <a:ext cx="10566400" cy="182880"/>
          </a:xfrm>
          <a:prstGeom prst="rect">
            <a:avLst/>
          </a:prstGeom>
          <a:noFill/>
        </p:spPr>
        <p:txBody>
          <a:bodyPr wrap="square" lIns="0" rIns="0" tIns="0" bIns="0" anchor="t">
            <a:noAutofit/>
          </a:bodyPr>
          <a:lstStyle/>
          <a:p>
            <a:pPr algn="l">
              <a:lnSpc>
                <a:spcPts val="1439"/>
              </a:lnSpc>
            </a:pPr>
            <a:r>
              <a:rPr sz="1200" b="1" spc="150">
                <a:solidFill>
                  <a:srgbClr val="1F5FAD"/>
                </a:solidFill>
                <a:latin typeface="Arial"/>
              </a:rPr>
              <a:t>RESULTS</a:t>
            </a:r>
          </a:p>
        </p:txBody>
      </p:sp>
      <p:pic>
        <p:nvPicPr>
          <p:cNvPr id="4" name="Picture 3" descr="Dot plot of CodaBench val top-1: reference 70.80%; full fine-tuning with the linear-probe head, 43 images per class, 8 epochs 72.57%; plus flip TTA 72.84% (+0.27); plus all 45 images per class 73.10% (+0.26); plus the prototype head, the final model, 76.22% (+3.12)."/>
          <p:cNvPicPr>
            <a:picLocks noChangeAspect="1"/>
          </p:cNvPicPr>
          <p:nvPr/>
        </p:nvPicPr>
        <p:blipFill>
          <a:blip r:embed="rId2"/>
          <a:stretch>
            <a:fillRect/>
          </a:stretch>
        </p:blipFill>
        <p:spPr>
          <a:xfrm>
            <a:off x="812800" y="1680464"/>
            <a:ext cx="10566400" cy="3807012"/>
          </a:xfrm>
          <a:prstGeom prst="rect">
            <a:avLst/>
          </a:prstGeom>
        </p:spPr>
      </p:pic>
      <p:sp>
        <p:nvSpPr>
          <p:cNvPr id="5" name="TextBox 4"/>
          <p:cNvSpPr txBox="1"/>
          <p:nvPr/>
        </p:nvSpPr>
        <p:spPr>
          <a:xfrm>
            <a:off x="812800" y="5614476"/>
            <a:ext cx="10566400" cy="181610"/>
          </a:xfrm>
          <a:prstGeom prst="rect">
            <a:avLst/>
          </a:prstGeom>
          <a:noFill/>
        </p:spPr>
        <p:txBody>
          <a:bodyPr wrap="square" lIns="0" rIns="0" tIns="0" bIns="0" anchor="t">
            <a:noAutofit/>
          </a:bodyPr>
          <a:lstStyle/>
          <a:p>
            <a:pPr algn="l">
              <a:lnSpc>
                <a:spcPts val="1430"/>
              </a:lnSpc>
            </a:pPr>
            <a:r>
              <a:rPr sz="1100" b="0">
                <a:solidFill>
                  <a:srgbClr val="6B7280"/>
                </a:solidFill>
                <a:latin typeface="Arial"/>
              </a:rPr>
              <a:t>CodaBench val top-1. Each step changes one setting; grey is the reference from the brief. The axis starts at 70% because the dots encode position, not length.</a:t>
            </a:r>
          </a:p>
        </p:txBody>
      </p:sp>
      <p:sp>
        <p:nvSpPr>
          <p:cNvPr id="6" name="TextBox 5"/>
          <p:cNvSpPr txBox="1"/>
          <p:nvPr/>
        </p:nvSpPr>
        <p:spPr>
          <a:xfrm>
            <a:off x="812800" y="6400800"/>
            <a:ext cx="9144000" cy="167640"/>
          </a:xfrm>
          <a:prstGeom prst="rect">
            <a:avLst/>
          </a:prstGeom>
          <a:noFill/>
        </p:spPr>
        <p:txBody>
          <a:bodyPr wrap="square" lIns="0" rIns="0" tIns="0" bIns="0" anchor="t">
            <a:noAutofit/>
          </a:bodyPr>
          <a:lstStyle/>
          <a:p>
            <a:pPr algn="l">
              <a:lnSpc>
                <a:spcPts val="1320"/>
              </a:lnSpc>
            </a:pPr>
            <a:r>
              <a:rPr sz="1100" b="0">
                <a:solidFill>
                  <a:srgbClr val="6B7280"/>
                </a:solidFill>
                <a:latin typeface="Arial"/>
              </a:rPr>
              <a:t>CS604 · Team 06</a:t>
            </a:r>
          </a:p>
        </p:txBody>
      </p:sp>
      <p:sp>
        <p:nvSpPr>
          <p:cNvPr id="7" name="TextBox 6"/>
          <p:cNvSpPr txBox="1"/>
          <p:nvPr/>
        </p:nvSpPr>
        <p:spPr>
          <a:xfrm>
            <a:off x="10363200" y="6400800"/>
            <a:ext cx="1016000" cy="167640"/>
          </a:xfrm>
          <a:prstGeom prst="rect">
            <a:avLst/>
          </a:prstGeom>
          <a:noFill/>
        </p:spPr>
        <p:txBody>
          <a:bodyPr wrap="square" lIns="0" rIns="0" tIns="0" bIns="0" anchor="t">
            <a:noAutofit/>
          </a:bodyPr>
          <a:lstStyle/>
          <a:p>
            <a:pPr algn="r">
              <a:lnSpc>
                <a:spcPts val="1320"/>
              </a:lnSpc>
            </a:pPr>
            <a:r>
              <a:rPr sz="1100" b="0">
                <a:solidFill>
                  <a:srgbClr val="6B728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itle 1"/>
          <p:cNvSpPr>
            <a:spLocks noGrp="1"/>
          </p:cNvSpPr>
          <p:nvPr>
            <p:ph type="title"/>
          </p:nvPr>
        </p:nvSpPr>
        <p:spPr>
          <a:xfrm>
            <a:off x="812800" y="889000"/>
            <a:ext cx="10566400" cy="512064"/>
          </a:xfrm>
        </p:spPr>
        <p:txBody>
          <a:bodyPr wrap="square" lIns="0" rIns="0" tIns="0" bIns="0" anchor="t">
            <a:noAutofit/>
          </a:bodyPr>
          <a:lstStyle/>
          <a:p>
            <a:pPr algn="l">
              <a:lnSpc>
                <a:spcPts val="4032"/>
              </a:lnSpc>
            </a:pPr>
            <a:r>
              <a:rPr sz="3600" b="1">
                <a:solidFill>
                  <a:srgbClr val="15202B"/>
                </a:solidFill>
                <a:latin typeface="Georgia"/>
              </a:rPr>
              <a:t>Final results, all inside the compute budget</a:t>
            </a:r>
          </a:p>
        </p:txBody>
      </p:sp>
      <p:sp>
        <p:nvSpPr>
          <p:cNvPr id="3" name="TextBox 2"/>
          <p:cNvSpPr txBox="1"/>
          <p:nvPr/>
        </p:nvSpPr>
        <p:spPr>
          <a:xfrm>
            <a:off x="812800" y="635000"/>
            <a:ext cx="10566400" cy="182880"/>
          </a:xfrm>
          <a:prstGeom prst="rect">
            <a:avLst/>
          </a:prstGeom>
          <a:noFill/>
        </p:spPr>
        <p:txBody>
          <a:bodyPr wrap="square" lIns="0" rIns="0" tIns="0" bIns="0" anchor="t">
            <a:noAutofit/>
          </a:bodyPr>
          <a:lstStyle/>
          <a:p>
            <a:pPr algn="l">
              <a:lnSpc>
                <a:spcPts val="1439"/>
              </a:lnSpc>
            </a:pPr>
            <a:r>
              <a:rPr sz="1200" b="1" spc="150">
                <a:solidFill>
                  <a:srgbClr val="1F5FAD"/>
                </a:solidFill>
                <a:latin typeface="Arial"/>
              </a:rPr>
              <a:t>FINAL MODELS</a:t>
            </a:r>
          </a:p>
        </p:txBody>
      </p:sp>
      <p:graphicFrame>
        <p:nvGraphicFramePr>
          <p:cNvPr id="4" name="Table 3"/>
          <p:cNvGraphicFramePr>
            <a:graphicFrameLocks noGrp="1"/>
          </p:cNvGraphicFramePr>
          <p:nvPr/>
        </p:nvGraphicFramePr>
        <p:xfrm>
          <a:off x="812800" y="1705864"/>
          <a:ext cx="10566400" cy="2270760"/>
        </p:xfrm>
        <a:graphic>
          <a:graphicData uri="http://schemas.openxmlformats.org/drawingml/2006/table">
            <a:tbl>
              <a:tblPr firstRow="1">
                <a:tableStyleId>{5C22544A-7EE6-4342-B048-85BDC9FD1C3A}</a:tableStyleId>
              </a:tblPr>
              <a:tblGrid>
                <a:gridCol w="3429000"/>
                <a:gridCol w="1168400"/>
                <a:gridCol w="838200"/>
                <a:gridCol w="1041400"/>
                <a:gridCol w="1371600"/>
                <a:gridCol w="1270000"/>
                <a:gridCol w="1447800"/>
              </a:tblGrid>
              <a:tr h="535940">
                <a:tc>
                  <a:txBody>
                    <a:bodyPr/>
                    <a:lstStyle/>
                    <a:p>
                      <a:pPr algn="l">
                        <a:lnSpc>
                          <a:spcPts val="1609"/>
                        </a:lnSpc>
                      </a:pPr>
                      <a:r>
                        <a:rPr sz="1400" b="1">
                          <a:solidFill>
                            <a:srgbClr val="15202B"/>
                          </a:solidFill>
                          <a:latin typeface="Arial"/>
                        </a:rPr>
                        <a:t>Model</a:t>
                      </a:r>
                    </a:p>
                  </a:txBody>
                  <a:tcPr marL="76200" marR="76200" marT="63500" marB="63500" anchor="ctr">
                    <a:solidFill>
                      <a:srgbClr val="E6E2DA"/>
                    </a:solidFill>
                  </a:tcPr>
                </a:tc>
                <a:tc>
                  <a:txBody>
                    <a:bodyPr/>
                    <a:lstStyle/>
                    <a:p>
                      <a:pPr algn="r">
                        <a:lnSpc>
                          <a:spcPts val="1609"/>
                        </a:lnSpc>
                      </a:pPr>
                      <a:r>
                        <a:rPr sz="1400" b="1">
                          <a:solidFill>
                            <a:srgbClr val="15202B"/>
                          </a:solidFill>
                          <a:latin typeface="Arial"/>
                        </a:rPr>
                        <a:t>CodaBench val</a:t>
                      </a:r>
                    </a:p>
                  </a:txBody>
                  <a:tcPr marL="76200" marR="76200" marT="63500" marB="63500" anchor="ctr">
                    <a:solidFill>
                      <a:srgbClr val="E6E2DA"/>
                    </a:solidFill>
                  </a:tcPr>
                </a:tc>
                <a:tc>
                  <a:txBody>
                    <a:bodyPr/>
                    <a:lstStyle/>
                    <a:p>
                      <a:pPr algn="r">
                        <a:lnSpc>
                          <a:spcPts val="1609"/>
                        </a:lnSpc>
                      </a:pPr>
                      <a:r>
                        <a:rPr sz="1400" b="1">
                          <a:solidFill>
                            <a:srgbClr val="15202B"/>
                          </a:solidFill>
                          <a:latin typeface="Arial"/>
                        </a:rPr>
                        <a:t>Test</a:t>
                      </a:r>
                    </a:p>
                  </a:txBody>
                  <a:tcPr marL="76200" marR="76200" marT="63500" marB="63500" anchor="ctr">
                    <a:solidFill>
                      <a:srgbClr val="E6E2DA"/>
                    </a:solidFill>
                  </a:tcPr>
                </a:tc>
                <a:tc>
                  <a:txBody>
                    <a:bodyPr/>
                    <a:lstStyle/>
                    <a:p>
                      <a:pPr algn="r">
                        <a:lnSpc>
                          <a:spcPts val="1609"/>
                        </a:lnSpc>
                      </a:pPr>
                      <a:r>
                        <a:rPr sz="1400" b="1">
                          <a:solidFill>
                            <a:srgbClr val="15202B"/>
                          </a:solidFill>
                          <a:latin typeface="Arial"/>
                        </a:rPr>
                        <a:t>Trainable</a:t>
                      </a:r>
                    </a:p>
                  </a:txBody>
                  <a:tcPr marL="76200" marR="76200" marT="63500" marB="63500" anchor="ctr">
                    <a:solidFill>
                      <a:srgbClr val="E6E2DA"/>
                    </a:solidFill>
                  </a:tcPr>
                </a:tc>
                <a:tc>
                  <a:txBody>
                    <a:bodyPr/>
                    <a:lstStyle/>
                    <a:p>
                      <a:pPr algn="r">
                        <a:lnSpc>
                          <a:spcPts val="1609"/>
                        </a:lnSpc>
                      </a:pPr>
                      <a:r>
                        <a:rPr sz="1400" b="1">
                          <a:solidFill>
                            <a:srgbClr val="15202B"/>
                          </a:solidFill>
                          <a:latin typeface="Arial"/>
                        </a:rPr>
                        <a:t>Latency bs1</a:t>
                      </a:r>
                    </a:p>
                  </a:txBody>
                  <a:tcPr marL="76200" marR="76200" marT="63500" marB="63500" anchor="ctr">
                    <a:solidFill>
                      <a:srgbClr val="E6E2DA"/>
                    </a:solidFill>
                  </a:tcPr>
                </a:tc>
                <a:tc>
                  <a:txBody>
                    <a:bodyPr/>
                    <a:lstStyle/>
                    <a:p>
                      <a:pPr algn="r">
                        <a:lnSpc>
                          <a:spcPts val="1609"/>
                        </a:lnSpc>
                      </a:pPr>
                      <a:r>
                        <a:rPr sz="1400" b="1">
                          <a:solidFill>
                            <a:srgbClr val="15202B"/>
                          </a:solidFill>
                          <a:latin typeface="Arial"/>
                        </a:rPr>
                        <a:t>GPU-hours</a:t>
                      </a:r>
                    </a:p>
                  </a:txBody>
                  <a:tcPr marL="76200" marR="76200" marT="63500" marB="63500" anchor="ctr">
                    <a:solidFill>
                      <a:srgbClr val="E6E2DA"/>
                    </a:solidFill>
                  </a:tcPr>
                </a:tc>
                <a:tc>
                  <a:txBody>
                    <a:bodyPr/>
                    <a:lstStyle/>
                    <a:p>
                      <a:pPr algn="r">
                        <a:lnSpc>
                          <a:spcPts val="1609"/>
                        </a:lnSpc>
                      </a:pPr>
                      <a:r>
                        <a:rPr sz="1400" b="1">
                          <a:solidFill>
                            <a:srgbClr val="15202B"/>
                          </a:solidFill>
                          <a:latin typeface="Arial"/>
                        </a:rPr>
                        <a:t>Peak VRAM</a:t>
                      </a:r>
                    </a:p>
                  </a:txBody>
                  <a:tcPr marL="76200" marR="76200" marT="63500" marB="63500" anchor="ctr">
                    <a:solidFill>
                      <a:srgbClr val="E6E2DA"/>
                    </a:solidFill>
                  </a:tcPr>
                </a:tc>
              </a:tr>
              <a:tr h="331470">
                <a:tc>
                  <a:txBody>
                    <a:bodyPr/>
                    <a:lstStyle/>
                    <a:p>
                      <a:pPr algn="l">
                        <a:lnSpc>
                          <a:spcPts val="1609"/>
                        </a:lnSpc>
                      </a:pPr>
                      <a:r>
                        <a:rPr sz="1400" b="0">
                          <a:solidFill>
                            <a:srgbClr val="15202B"/>
                          </a:solidFill>
                          <a:latin typeface="Arial"/>
                        </a:rPr>
                        <a:t>Reference: full fine-tuning</a:t>
                      </a:r>
                    </a:p>
                  </a:txBody>
                  <a:tcPr marL="76200" marR="76200" marT="63500" marB="63500" anchor="ctr">
                    <a:solidFill>
                      <a:srgbClr val="FFFFFF"/>
                    </a:solidFill>
                  </a:tcPr>
                </a:tc>
                <a:tc>
                  <a:txBody>
                    <a:bodyPr/>
                    <a:lstStyle/>
                    <a:p>
                      <a:pPr algn="r">
                        <a:lnSpc>
                          <a:spcPts val="1609"/>
                        </a:lnSpc>
                      </a:pPr>
                      <a:r>
                        <a:rPr sz="1400" b="0">
                          <a:solidFill>
                            <a:srgbClr val="15202B"/>
                          </a:solidFill>
                          <a:latin typeface="Arial"/>
                        </a:rPr>
                        <a:t>70.8%</a:t>
                      </a:r>
                    </a:p>
                  </a:txBody>
                  <a:tcPr marL="76200" marR="76200" marT="63500" marB="63500" anchor="ctr">
                    <a:solidFill>
                      <a:srgbClr val="FFFFFF"/>
                    </a:solidFill>
                  </a:tcPr>
                </a:tc>
                <a:tc>
                  <a:txBody>
                    <a:bodyPr/>
                    <a:lstStyle/>
                    <a:p>
                      <a:pPr algn="r">
                        <a:lnSpc>
                          <a:spcPts val="1609"/>
                        </a:lnSpc>
                      </a:pPr>
                      <a:r>
                        <a:rPr sz="1400" b="0">
                          <a:solidFill>
                            <a:srgbClr val="15202B"/>
                          </a:solidFill>
                          <a:latin typeface="Arial"/>
                        </a:rPr>
                        <a:t>–</a:t>
                      </a:r>
                    </a:p>
                  </a:txBody>
                  <a:tcPr marL="76200" marR="76200" marT="63500" marB="63500" anchor="ctr">
                    <a:solidFill>
                      <a:srgbClr val="FFFFFF"/>
                    </a:solidFill>
                  </a:tcPr>
                </a:tc>
                <a:tc>
                  <a:txBody>
                    <a:bodyPr/>
                    <a:lstStyle/>
                    <a:p>
                      <a:pPr algn="r">
                        <a:lnSpc>
                          <a:spcPts val="1609"/>
                        </a:lnSpc>
                      </a:pPr>
                      <a:r>
                        <a:rPr sz="1400" b="0">
                          <a:solidFill>
                            <a:srgbClr val="15202B"/>
                          </a:solidFill>
                          <a:latin typeface="Arial"/>
                        </a:rPr>
                        <a:t>100%</a:t>
                      </a:r>
                    </a:p>
                  </a:txBody>
                  <a:tcPr marL="76200" marR="76200" marT="63500" marB="63500" anchor="ctr">
                    <a:solidFill>
                      <a:srgbClr val="FFFFFF"/>
                    </a:solidFill>
                  </a:tcPr>
                </a:tc>
                <a:tc>
                  <a:txBody>
                    <a:bodyPr/>
                    <a:lstStyle/>
                    <a:p>
                      <a:pPr algn="r">
                        <a:lnSpc>
                          <a:spcPts val="1609"/>
                        </a:lnSpc>
                      </a:pPr>
                      <a:r>
                        <a:rPr sz="1400" b="0">
                          <a:solidFill>
                            <a:srgbClr val="15202B"/>
                          </a:solidFill>
                          <a:latin typeface="Arial"/>
                        </a:rPr>
                        <a:t>–</a:t>
                      </a:r>
                    </a:p>
                  </a:txBody>
                  <a:tcPr marL="76200" marR="76200" marT="63500" marB="63500" anchor="ctr">
                    <a:solidFill>
                      <a:srgbClr val="FFFFFF"/>
                    </a:solidFill>
                  </a:tcPr>
                </a:tc>
                <a:tc>
                  <a:txBody>
                    <a:bodyPr/>
                    <a:lstStyle/>
                    <a:p>
                      <a:pPr algn="r">
                        <a:lnSpc>
                          <a:spcPts val="1609"/>
                        </a:lnSpc>
                      </a:pPr>
                      <a:r>
                        <a:rPr sz="1400" b="0">
                          <a:solidFill>
                            <a:srgbClr val="15202B"/>
                          </a:solidFill>
                          <a:latin typeface="Arial"/>
                        </a:rPr>
                        <a:t>–</a:t>
                      </a:r>
                    </a:p>
                  </a:txBody>
                  <a:tcPr marL="76200" marR="76200" marT="63500" marB="63500" anchor="ctr">
                    <a:solidFill>
                      <a:srgbClr val="FFFFFF"/>
                    </a:solidFill>
                  </a:tcPr>
                </a:tc>
                <a:tc>
                  <a:txBody>
                    <a:bodyPr/>
                    <a:lstStyle/>
                    <a:p>
                      <a:pPr algn="r">
                        <a:lnSpc>
                          <a:spcPts val="1609"/>
                        </a:lnSpc>
                      </a:pPr>
                      <a:r>
                        <a:rPr sz="1400" b="0">
                          <a:solidFill>
                            <a:srgbClr val="15202B"/>
                          </a:solidFill>
                          <a:latin typeface="Arial"/>
                        </a:rPr>
                        <a:t>–</a:t>
                      </a:r>
                    </a:p>
                  </a:txBody>
                  <a:tcPr marL="76200" marR="76200" marT="63500" marB="63500" anchor="ctr">
                    <a:solidFill>
                      <a:srgbClr val="FFFFFF"/>
                    </a:solidFill>
                  </a:tcPr>
                </a:tc>
              </a:tr>
              <a:tr h="331470">
                <a:tc>
                  <a:txBody>
                    <a:bodyPr/>
                    <a:lstStyle/>
                    <a:p>
                      <a:pPr algn="l">
                        <a:lnSpc>
                          <a:spcPts val="1609"/>
                        </a:lnSpc>
                      </a:pPr>
                      <a:r>
                        <a:rPr sz="1400" b="0">
                          <a:solidFill>
                            <a:srgbClr val="15202B"/>
                          </a:solidFill>
                          <a:latin typeface="Arial"/>
                        </a:rPr>
                        <a:t>Reference: LoRA</a:t>
                      </a:r>
                    </a:p>
                  </a:txBody>
                  <a:tcPr marL="76200" marR="76200" marT="63500" marB="63500" anchor="ctr">
                    <a:solidFill>
                      <a:srgbClr val="F4F2EE"/>
                    </a:solidFill>
                  </a:tcPr>
                </a:tc>
                <a:tc>
                  <a:txBody>
                    <a:bodyPr/>
                    <a:lstStyle/>
                    <a:p>
                      <a:pPr algn="r">
                        <a:lnSpc>
                          <a:spcPts val="1609"/>
                        </a:lnSpc>
                      </a:pPr>
                      <a:r>
                        <a:rPr sz="1400" b="0">
                          <a:solidFill>
                            <a:srgbClr val="15202B"/>
                          </a:solidFill>
                          <a:latin typeface="Arial"/>
                        </a:rPr>
                        <a:t>68.3%</a:t>
                      </a:r>
                    </a:p>
                  </a:txBody>
                  <a:tcPr marL="76200" marR="76200" marT="63500" marB="63500" anchor="ctr">
                    <a:solidFill>
                      <a:srgbClr val="F4F2EE"/>
                    </a:solidFill>
                  </a:tcPr>
                </a:tc>
                <a:tc>
                  <a:txBody>
                    <a:bodyPr/>
                    <a:lstStyle/>
                    <a:p>
                      <a:pPr algn="r">
                        <a:lnSpc>
                          <a:spcPts val="1609"/>
                        </a:lnSpc>
                      </a:pPr>
                      <a:r>
                        <a:rPr sz="1400" b="0">
                          <a:solidFill>
                            <a:srgbClr val="15202B"/>
                          </a:solidFill>
                          <a:latin typeface="Arial"/>
                        </a:rPr>
                        <a:t>–</a:t>
                      </a:r>
                    </a:p>
                  </a:txBody>
                  <a:tcPr marL="76200" marR="76200" marT="63500" marB="63500" anchor="ctr">
                    <a:solidFill>
                      <a:srgbClr val="F4F2EE"/>
                    </a:solidFill>
                  </a:tcPr>
                </a:tc>
                <a:tc>
                  <a:txBody>
                    <a:bodyPr/>
                    <a:lstStyle/>
                    <a:p>
                      <a:pPr algn="r">
                        <a:lnSpc>
                          <a:spcPts val="1609"/>
                        </a:lnSpc>
                      </a:pPr>
                      <a:r>
                        <a:rPr sz="1400" b="0">
                          <a:solidFill>
                            <a:srgbClr val="15202B"/>
                          </a:solidFill>
                          <a:latin typeface="Arial"/>
                        </a:rPr>
                        <a:t>0.34%</a:t>
                      </a:r>
                    </a:p>
                  </a:txBody>
                  <a:tcPr marL="76200" marR="76200" marT="63500" marB="63500" anchor="ctr">
                    <a:solidFill>
                      <a:srgbClr val="F4F2EE"/>
                    </a:solidFill>
                  </a:tcPr>
                </a:tc>
                <a:tc>
                  <a:txBody>
                    <a:bodyPr/>
                    <a:lstStyle/>
                    <a:p>
                      <a:pPr algn="r">
                        <a:lnSpc>
                          <a:spcPts val="1609"/>
                        </a:lnSpc>
                      </a:pPr>
                      <a:r>
                        <a:rPr sz="1400" b="0">
                          <a:solidFill>
                            <a:srgbClr val="15202B"/>
                          </a:solidFill>
                          <a:latin typeface="Arial"/>
                        </a:rPr>
                        <a:t>–</a:t>
                      </a:r>
                    </a:p>
                  </a:txBody>
                  <a:tcPr marL="76200" marR="76200" marT="63500" marB="63500" anchor="ctr">
                    <a:solidFill>
                      <a:srgbClr val="F4F2EE"/>
                    </a:solidFill>
                  </a:tcPr>
                </a:tc>
                <a:tc>
                  <a:txBody>
                    <a:bodyPr/>
                    <a:lstStyle/>
                    <a:p>
                      <a:pPr algn="r">
                        <a:lnSpc>
                          <a:spcPts val="1609"/>
                        </a:lnSpc>
                      </a:pPr>
                      <a:r>
                        <a:rPr sz="1400" b="0">
                          <a:solidFill>
                            <a:srgbClr val="15202B"/>
                          </a:solidFill>
                          <a:latin typeface="Arial"/>
                        </a:rPr>
                        <a:t>–</a:t>
                      </a:r>
                    </a:p>
                  </a:txBody>
                  <a:tcPr marL="76200" marR="76200" marT="63500" marB="63500" anchor="ctr">
                    <a:solidFill>
                      <a:srgbClr val="F4F2EE"/>
                    </a:solidFill>
                  </a:tcPr>
                </a:tc>
                <a:tc>
                  <a:txBody>
                    <a:bodyPr/>
                    <a:lstStyle/>
                    <a:p>
                      <a:pPr algn="r">
                        <a:lnSpc>
                          <a:spcPts val="1609"/>
                        </a:lnSpc>
                      </a:pPr>
                      <a:r>
                        <a:rPr sz="1400" b="0">
                          <a:solidFill>
                            <a:srgbClr val="15202B"/>
                          </a:solidFill>
                          <a:latin typeface="Arial"/>
                        </a:rPr>
                        <a:t>–</a:t>
                      </a:r>
                    </a:p>
                  </a:txBody>
                  <a:tcPr marL="76200" marR="76200" marT="63500" marB="63500" anchor="ctr">
                    <a:solidFill>
                      <a:srgbClr val="F4F2EE"/>
                    </a:solidFill>
                  </a:tcPr>
                </a:tc>
              </a:tr>
              <a:tr h="535940">
                <a:tc>
                  <a:txBody>
                    <a:bodyPr/>
                    <a:lstStyle/>
                    <a:p>
                      <a:pPr algn="l">
                        <a:lnSpc>
                          <a:spcPts val="1609"/>
                        </a:lnSpc>
                      </a:pPr>
                      <a:r>
                        <a:rPr sz="1400" b="1">
                          <a:solidFill>
                            <a:srgbClr val="15202B"/>
                          </a:solidFill>
                          <a:latin typeface="Arial"/>
                        </a:rPr>
                        <a:t>Ours: full fine-tuning, proto head, 8 epochs, all data, flip TTA</a:t>
                      </a:r>
                    </a:p>
                  </a:txBody>
                  <a:tcPr marL="76200" marR="76200" marT="63500" marB="63500" anchor="ctr">
                    <a:solidFill>
                      <a:srgbClr val="E7F0FB"/>
                    </a:solidFill>
                  </a:tcPr>
                </a:tc>
                <a:tc>
                  <a:txBody>
                    <a:bodyPr/>
                    <a:lstStyle/>
                    <a:p>
                      <a:pPr algn="r">
                        <a:lnSpc>
                          <a:spcPts val="1609"/>
                        </a:lnSpc>
                      </a:pPr>
                      <a:r>
                        <a:rPr sz="1400" b="1">
                          <a:solidFill>
                            <a:srgbClr val="15202B"/>
                          </a:solidFill>
                          <a:latin typeface="Arial"/>
                        </a:rPr>
                        <a:t>76.22%</a:t>
                      </a:r>
                    </a:p>
                  </a:txBody>
                  <a:tcPr marL="76200" marR="76200" marT="63500" marB="63500" anchor="ctr">
                    <a:solidFill>
                      <a:srgbClr val="E7F0FB"/>
                    </a:solidFill>
                  </a:tcPr>
                </a:tc>
                <a:tc>
                  <a:txBody>
                    <a:bodyPr/>
                    <a:lstStyle/>
                    <a:p>
                      <a:pPr algn="r">
                        <a:lnSpc>
                          <a:spcPts val="1609"/>
                        </a:lnSpc>
                      </a:pPr>
                      <a:r>
                        <a:rPr sz="1400" b="1">
                          <a:solidFill>
                            <a:srgbClr val="15202B"/>
                          </a:solidFill>
                          <a:latin typeface="Arial"/>
                        </a:rPr>
                        <a:t>[__%]</a:t>
                      </a:r>
                    </a:p>
                  </a:txBody>
                  <a:tcPr marL="76200" marR="76200" marT="63500" marB="63500" anchor="ctr">
                    <a:solidFill>
                      <a:srgbClr val="E7F0FB"/>
                    </a:solidFill>
                  </a:tcPr>
                </a:tc>
                <a:tc>
                  <a:txBody>
                    <a:bodyPr/>
                    <a:lstStyle/>
                    <a:p>
                      <a:pPr algn="r">
                        <a:lnSpc>
                          <a:spcPts val="1609"/>
                        </a:lnSpc>
                      </a:pPr>
                      <a:r>
                        <a:rPr sz="1400" b="1">
                          <a:solidFill>
                            <a:srgbClr val="15202B"/>
                          </a:solidFill>
                          <a:latin typeface="Arial"/>
                        </a:rPr>
                        <a:t>100%</a:t>
                      </a:r>
                    </a:p>
                  </a:txBody>
                  <a:tcPr marL="76200" marR="76200" marT="63500" marB="63500" anchor="ctr">
                    <a:solidFill>
                      <a:srgbClr val="E7F0FB"/>
                    </a:solidFill>
                  </a:tcPr>
                </a:tc>
                <a:tc>
                  <a:txBody>
                    <a:bodyPr/>
                    <a:lstStyle/>
                    <a:p>
                      <a:pPr algn="r">
                        <a:lnSpc>
                          <a:spcPts val="1609"/>
                        </a:lnSpc>
                      </a:pPr>
                      <a:r>
                        <a:rPr sz="1400" b="1">
                          <a:solidFill>
                            <a:srgbClr val="15202B"/>
                          </a:solidFill>
                          <a:latin typeface="Arial"/>
                        </a:rPr>
                        <a:t>14.95 ms *</a:t>
                      </a:r>
                    </a:p>
                  </a:txBody>
                  <a:tcPr marL="76200" marR="76200" marT="63500" marB="63500" anchor="ctr">
                    <a:solidFill>
                      <a:srgbClr val="E7F0FB"/>
                    </a:solidFill>
                  </a:tcPr>
                </a:tc>
                <a:tc>
                  <a:txBody>
                    <a:bodyPr/>
                    <a:lstStyle/>
                    <a:p>
                      <a:pPr algn="r">
                        <a:lnSpc>
                          <a:spcPts val="1609"/>
                        </a:lnSpc>
                      </a:pPr>
                      <a:r>
                        <a:rPr sz="1400" b="1">
                          <a:solidFill>
                            <a:srgbClr val="15202B"/>
                          </a:solidFill>
                          <a:latin typeface="Arial"/>
                        </a:rPr>
                        <a:t>1.03 h</a:t>
                      </a:r>
                    </a:p>
                  </a:txBody>
                  <a:tcPr marL="76200" marR="76200" marT="63500" marB="63500" anchor="ctr">
                    <a:solidFill>
                      <a:srgbClr val="E7F0FB"/>
                    </a:solidFill>
                  </a:tcPr>
                </a:tc>
                <a:tc>
                  <a:txBody>
                    <a:bodyPr/>
                    <a:lstStyle/>
                    <a:p>
                      <a:pPr algn="r">
                        <a:lnSpc>
                          <a:spcPts val="1609"/>
                        </a:lnSpc>
                      </a:pPr>
                      <a:r>
                        <a:rPr sz="1400" b="1">
                          <a:solidFill>
                            <a:srgbClr val="15202B"/>
                          </a:solidFill>
                          <a:latin typeface="Arial"/>
                        </a:rPr>
                        <a:t>18.9 GB</a:t>
                      </a:r>
                    </a:p>
                  </a:txBody>
                  <a:tcPr marL="76200" marR="76200" marT="63500" marB="63500" anchor="ctr">
                    <a:solidFill>
                      <a:srgbClr val="E7F0FB"/>
                    </a:solidFill>
                  </a:tcPr>
                </a:tc>
              </a:tr>
              <a:tr h="535940">
                <a:tc>
                  <a:txBody>
                    <a:bodyPr/>
                    <a:lstStyle/>
                    <a:p>
                      <a:pPr algn="l">
                        <a:lnSpc>
                          <a:spcPts val="1609"/>
                        </a:lnSpc>
                      </a:pPr>
                      <a:r>
                        <a:rPr sz="1400" b="1">
                          <a:solidFill>
                            <a:srgbClr val="15202B"/>
                          </a:solidFill>
                          <a:latin typeface="Arial"/>
                        </a:rPr>
                        <a:t>Ours: LoRA on all linear layers, proto head, 3 epochs</a:t>
                      </a:r>
                    </a:p>
                  </a:txBody>
                  <a:tcPr marL="76200" marR="76200" marT="63500" marB="63500" anchor="ctr">
                    <a:solidFill>
                      <a:srgbClr val="E7F0FB"/>
                    </a:solidFill>
                  </a:tcPr>
                </a:tc>
                <a:tc>
                  <a:txBody>
                    <a:bodyPr/>
                    <a:lstStyle/>
                    <a:p>
                      <a:pPr algn="r">
                        <a:lnSpc>
                          <a:spcPts val="1609"/>
                        </a:lnSpc>
                      </a:pPr>
                      <a:r>
                        <a:rPr sz="1400" b="1">
                          <a:solidFill>
                            <a:srgbClr val="15202B"/>
                          </a:solidFill>
                          <a:latin typeface="Arial"/>
                        </a:rPr>
                        <a:t>71.90%</a:t>
                      </a:r>
                    </a:p>
                  </a:txBody>
                  <a:tcPr marL="76200" marR="76200" marT="63500" marB="63500" anchor="ctr">
                    <a:solidFill>
                      <a:srgbClr val="E7F0FB"/>
                    </a:solidFill>
                  </a:tcPr>
                </a:tc>
                <a:tc>
                  <a:txBody>
                    <a:bodyPr/>
                    <a:lstStyle/>
                    <a:p>
                      <a:pPr algn="r">
                        <a:lnSpc>
                          <a:spcPts val="1609"/>
                        </a:lnSpc>
                      </a:pPr>
                      <a:r>
                        <a:rPr sz="1400" b="1">
                          <a:solidFill>
                            <a:srgbClr val="15202B"/>
                          </a:solidFill>
                          <a:latin typeface="Arial"/>
                        </a:rPr>
                        <a:t>[__%]</a:t>
                      </a:r>
                    </a:p>
                  </a:txBody>
                  <a:tcPr marL="76200" marR="76200" marT="63500" marB="63500" anchor="ctr">
                    <a:solidFill>
                      <a:srgbClr val="E7F0FB"/>
                    </a:solidFill>
                  </a:tcPr>
                </a:tc>
                <a:tc>
                  <a:txBody>
                    <a:bodyPr/>
                    <a:lstStyle/>
                    <a:p>
                      <a:pPr algn="r">
                        <a:lnSpc>
                          <a:spcPts val="1609"/>
                        </a:lnSpc>
                      </a:pPr>
                      <a:r>
                        <a:rPr sz="1400" b="1">
                          <a:solidFill>
                            <a:srgbClr val="15202B"/>
                          </a:solidFill>
                          <a:latin typeface="Arial"/>
                        </a:rPr>
                        <a:t>1.375%</a:t>
                      </a:r>
                    </a:p>
                  </a:txBody>
                  <a:tcPr marL="76200" marR="76200" marT="63500" marB="63500" anchor="ctr">
                    <a:solidFill>
                      <a:srgbClr val="E7F0FB"/>
                    </a:solidFill>
                  </a:tcPr>
                </a:tc>
                <a:tc>
                  <a:txBody>
                    <a:bodyPr/>
                    <a:lstStyle/>
                    <a:p>
                      <a:pPr algn="r">
                        <a:lnSpc>
                          <a:spcPts val="1609"/>
                        </a:lnSpc>
                      </a:pPr>
                      <a:r>
                        <a:rPr sz="1400" b="1">
                          <a:solidFill>
                            <a:srgbClr val="15202B"/>
                          </a:solidFill>
                          <a:latin typeface="Arial"/>
                        </a:rPr>
                        <a:t>7.61 ms</a:t>
                      </a:r>
                    </a:p>
                  </a:txBody>
                  <a:tcPr marL="76200" marR="76200" marT="63500" marB="63500" anchor="ctr">
                    <a:solidFill>
                      <a:srgbClr val="E7F0FB"/>
                    </a:solidFill>
                  </a:tcPr>
                </a:tc>
                <a:tc>
                  <a:txBody>
                    <a:bodyPr/>
                    <a:lstStyle/>
                    <a:p>
                      <a:pPr algn="r">
                        <a:lnSpc>
                          <a:spcPts val="1609"/>
                        </a:lnSpc>
                      </a:pPr>
                      <a:r>
                        <a:rPr sz="1400" b="1">
                          <a:solidFill>
                            <a:srgbClr val="15202B"/>
                          </a:solidFill>
                          <a:latin typeface="Arial"/>
                        </a:rPr>
                        <a:t>0.54 h</a:t>
                      </a:r>
                    </a:p>
                  </a:txBody>
                  <a:tcPr marL="76200" marR="76200" marT="63500" marB="63500" anchor="ctr">
                    <a:solidFill>
                      <a:srgbClr val="E7F0FB"/>
                    </a:solidFill>
                  </a:tcPr>
                </a:tc>
                <a:tc>
                  <a:txBody>
                    <a:bodyPr/>
                    <a:lstStyle/>
                    <a:p>
                      <a:pPr algn="r">
                        <a:lnSpc>
                          <a:spcPts val="1609"/>
                        </a:lnSpc>
                      </a:pPr>
                      <a:r>
                        <a:rPr sz="1400" b="1">
                          <a:solidFill>
                            <a:srgbClr val="15202B"/>
                          </a:solidFill>
                          <a:latin typeface="Arial"/>
                        </a:rPr>
                        <a:t>19.9 GB</a:t>
                      </a:r>
                    </a:p>
                  </a:txBody>
                  <a:tcPr marL="76200" marR="76200" marT="63500" marB="63500" anchor="ctr">
                    <a:solidFill>
                      <a:srgbClr val="E7F0FB"/>
                    </a:solidFill>
                  </a:tcPr>
                </a:tc>
              </a:tr>
            </a:tbl>
          </a:graphicData>
        </a:graphic>
      </p:graphicFrame>
      <p:sp>
        <p:nvSpPr>
          <p:cNvPr id="5" name="TextBox 4"/>
          <p:cNvSpPr txBox="1"/>
          <p:nvPr/>
        </p:nvSpPr>
        <p:spPr>
          <a:xfrm>
            <a:off x="812800" y="4281424"/>
            <a:ext cx="10566400" cy="445770"/>
          </a:xfrm>
          <a:prstGeom prst="rect">
            <a:avLst/>
          </a:prstGeom>
          <a:noFill/>
        </p:spPr>
        <p:txBody>
          <a:bodyPr wrap="square" lIns="0" rIns="0" tIns="0" bIns="0" anchor="t">
            <a:noAutofit/>
          </a:bodyPr>
          <a:lstStyle/>
          <a:p>
            <a:pPr algn="l">
              <a:lnSpc>
                <a:spcPts val="1755"/>
              </a:lnSpc>
            </a:pPr>
            <a:r>
              <a:rPr sz="1300" b="0">
                <a:solidFill>
                  <a:srgbClr val="4A5563"/>
                </a:solidFill>
                <a:latin typeface="Arial"/>
              </a:rPr>
              <a:t>* Flip TTA runs two forward passes per image; without it the same model takes 7.35 ms. Budget per run: 1.2 GPU-hours on an A100-80GB (2 h × 48 GB) and 48 GB of memory. Latency: batch 1, bf16, forward pass only. Test accuracy is added after Phase 2 (6 November).</a:t>
            </a:r>
          </a:p>
        </p:txBody>
      </p:sp>
      <p:sp>
        <p:nvSpPr>
          <p:cNvPr id="6" name="TextBox 5"/>
          <p:cNvSpPr txBox="1"/>
          <p:nvPr/>
        </p:nvSpPr>
        <p:spPr>
          <a:xfrm>
            <a:off x="812800" y="6400800"/>
            <a:ext cx="9144000" cy="167640"/>
          </a:xfrm>
          <a:prstGeom prst="rect">
            <a:avLst/>
          </a:prstGeom>
          <a:noFill/>
        </p:spPr>
        <p:txBody>
          <a:bodyPr wrap="square" lIns="0" rIns="0" tIns="0" bIns="0" anchor="t">
            <a:noAutofit/>
          </a:bodyPr>
          <a:lstStyle/>
          <a:p>
            <a:pPr algn="l">
              <a:lnSpc>
                <a:spcPts val="1320"/>
              </a:lnSpc>
            </a:pPr>
            <a:r>
              <a:rPr sz="1100" b="0">
                <a:solidFill>
                  <a:srgbClr val="6B7280"/>
                </a:solidFill>
                <a:latin typeface="Arial"/>
              </a:rPr>
              <a:t>CS604 · Team 06 · Trainable = share of the 85.8M-parameter backbone; the 7.69M-parameter head is extra</a:t>
            </a:r>
          </a:p>
        </p:txBody>
      </p:sp>
      <p:sp>
        <p:nvSpPr>
          <p:cNvPr id="7" name="TextBox 6"/>
          <p:cNvSpPr txBox="1"/>
          <p:nvPr/>
        </p:nvSpPr>
        <p:spPr>
          <a:xfrm>
            <a:off x="10363200" y="6400800"/>
            <a:ext cx="1016000" cy="167640"/>
          </a:xfrm>
          <a:prstGeom prst="rect">
            <a:avLst/>
          </a:prstGeom>
          <a:noFill/>
        </p:spPr>
        <p:txBody>
          <a:bodyPr wrap="square" lIns="0" rIns="0" tIns="0" bIns="0" anchor="t">
            <a:noAutofit/>
          </a:bodyPr>
          <a:lstStyle/>
          <a:p>
            <a:pPr algn="r">
              <a:lnSpc>
                <a:spcPts val="1320"/>
              </a:lnSpc>
            </a:pPr>
            <a:r>
              <a:rPr sz="1100" b="0">
                <a:solidFill>
                  <a:srgbClr val="6B728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itle 1"/>
          <p:cNvSpPr>
            <a:spLocks noGrp="1"/>
          </p:cNvSpPr>
          <p:nvPr>
            <p:ph type="title"/>
          </p:nvPr>
        </p:nvSpPr>
        <p:spPr>
          <a:xfrm>
            <a:off x="812800" y="889000"/>
            <a:ext cx="10566400" cy="512064"/>
          </a:xfrm>
        </p:spPr>
        <p:txBody>
          <a:bodyPr wrap="square" lIns="0" rIns="0" tIns="0" bIns="0" anchor="t">
            <a:noAutofit/>
          </a:bodyPr>
          <a:lstStyle/>
          <a:p>
            <a:pPr algn="l">
              <a:lnSpc>
                <a:spcPts val="4032"/>
              </a:lnSpc>
            </a:pPr>
            <a:r>
              <a:rPr sz="3600" b="1">
                <a:solidFill>
                  <a:srgbClr val="15202B"/>
                </a:solidFill>
                <a:latin typeface="Georgia"/>
              </a:rPr>
              <a:t>What PEFT saves, and what it does not</a:t>
            </a:r>
          </a:p>
        </p:txBody>
      </p:sp>
      <p:sp>
        <p:nvSpPr>
          <p:cNvPr id="3" name="TextBox 2"/>
          <p:cNvSpPr txBox="1"/>
          <p:nvPr/>
        </p:nvSpPr>
        <p:spPr>
          <a:xfrm>
            <a:off x="812800" y="635000"/>
            <a:ext cx="10566400" cy="182880"/>
          </a:xfrm>
          <a:prstGeom prst="rect">
            <a:avLst/>
          </a:prstGeom>
          <a:noFill/>
        </p:spPr>
        <p:txBody>
          <a:bodyPr wrap="square" lIns="0" rIns="0" tIns="0" bIns="0" anchor="t">
            <a:noAutofit/>
          </a:bodyPr>
          <a:lstStyle/>
          <a:p>
            <a:pPr algn="l">
              <a:lnSpc>
                <a:spcPts val="1439"/>
              </a:lnSpc>
            </a:pPr>
            <a:r>
              <a:rPr sz="1200" b="1" spc="150">
                <a:solidFill>
                  <a:srgbClr val="1F5FAD"/>
                </a:solidFill>
                <a:latin typeface="Arial"/>
              </a:rPr>
              <a:t>COST</a:t>
            </a:r>
          </a:p>
        </p:txBody>
      </p:sp>
      <p:sp>
        <p:nvSpPr>
          <p:cNvPr id="4" name="Rounded Rectangle 3"/>
          <p:cNvSpPr/>
          <p:nvPr/>
        </p:nvSpPr>
        <p:spPr>
          <a:xfrm>
            <a:off x="812800" y="1731264"/>
            <a:ext cx="3352800" cy="2600960"/>
          </a:xfrm>
          <a:prstGeom prst="roundRect">
            <a:avLst>
              <a:gd name="adj" fmla="val 4882"/>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extBox 4"/>
          <p:cNvSpPr txBox="1"/>
          <p:nvPr/>
        </p:nvSpPr>
        <p:spPr>
          <a:xfrm>
            <a:off x="1041400" y="1959864"/>
            <a:ext cx="2895600" cy="487680"/>
          </a:xfrm>
          <a:prstGeom prst="rect">
            <a:avLst/>
          </a:prstGeom>
          <a:noFill/>
        </p:spPr>
        <p:txBody>
          <a:bodyPr wrap="square" lIns="0" rIns="0" tIns="0" bIns="0" anchor="t">
            <a:noAutofit/>
          </a:bodyPr>
          <a:lstStyle/>
          <a:p>
            <a:pPr algn="l">
              <a:lnSpc>
                <a:spcPts val="1920"/>
              </a:lnSpc>
            </a:pPr>
            <a:r>
              <a:rPr sz="1600" b="1">
                <a:solidFill>
                  <a:srgbClr val="15202B"/>
                </a:solidFill>
                <a:latin typeface="Arial"/>
              </a:rPr>
              <a:t>Saves: parameters and storage</a:t>
            </a:r>
          </a:p>
        </p:txBody>
      </p:sp>
      <p:sp>
        <p:nvSpPr>
          <p:cNvPr id="6" name="TextBox 5"/>
          <p:cNvSpPr txBox="1"/>
          <p:nvPr/>
        </p:nvSpPr>
        <p:spPr>
          <a:xfrm>
            <a:off x="1041400" y="2574544"/>
            <a:ext cx="2895600" cy="502920"/>
          </a:xfrm>
          <a:prstGeom prst="rect">
            <a:avLst/>
          </a:prstGeom>
          <a:noFill/>
        </p:spPr>
        <p:txBody>
          <a:bodyPr wrap="square" lIns="0" rIns="0" tIns="0" bIns="0" anchor="t">
            <a:noAutofit/>
          </a:bodyPr>
          <a:lstStyle/>
          <a:p>
            <a:pPr algn="l">
              <a:lnSpc>
                <a:spcPts val="3960"/>
              </a:lnSpc>
            </a:pPr>
            <a:r>
              <a:rPr sz="3600" b="1">
                <a:solidFill>
                  <a:srgbClr val="2A78D6"/>
                </a:solidFill>
                <a:latin typeface="Georgia"/>
              </a:rPr>
              <a:t>1.375%</a:t>
            </a:r>
          </a:p>
        </p:txBody>
      </p:sp>
      <p:sp>
        <p:nvSpPr>
          <p:cNvPr id="7" name="TextBox 6"/>
          <p:cNvSpPr txBox="1"/>
          <p:nvPr/>
        </p:nvSpPr>
        <p:spPr>
          <a:xfrm>
            <a:off x="1041400" y="3179064"/>
            <a:ext cx="2895600" cy="924560"/>
          </a:xfrm>
          <a:prstGeom prst="rect">
            <a:avLst/>
          </a:prstGeom>
          <a:noFill/>
        </p:spPr>
        <p:txBody>
          <a:bodyPr wrap="square" lIns="0" rIns="0" tIns="0" bIns="0" anchor="t">
            <a:noAutofit/>
          </a:bodyPr>
          <a:lstStyle/>
          <a:p>
            <a:pPr algn="l">
              <a:lnSpc>
                <a:spcPts val="1820"/>
              </a:lnSpc>
            </a:pPr>
            <a:r>
              <a:rPr sz="1400" b="0">
                <a:solidFill>
                  <a:srgbClr val="4A5563"/>
                </a:solidFill>
                <a:latin typeface="Arial"/>
              </a:rPr>
              <a:t>of the backbone is trained. The checkpoint is about 36 MB (31 MB of it is the head), against 374 MB for full fine-tuning.</a:t>
            </a:r>
          </a:p>
        </p:txBody>
      </p:sp>
      <p:sp>
        <p:nvSpPr>
          <p:cNvPr id="8" name="Rounded Rectangle 7"/>
          <p:cNvSpPr/>
          <p:nvPr/>
        </p:nvSpPr>
        <p:spPr>
          <a:xfrm>
            <a:off x="4419600" y="1731264"/>
            <a:ext cx="3352800" cy="2600960"/>
          </a:xfrm>
          <a:prstGeom prst="roundRect">
            <a:avLst>
              <a:gd name="adj" fmla="val 4882"/>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xtBox 8"/>
          <p:cNvSpPr txBox="1"/>
          <p:nvPr/>
        </p:nvSpPr>
        <p:spPr>
          <a:xfrm>
            <a:off x="4648200" y="1959864"/>
            <a:ext cx="2895600" cy="487680"/>
          </a:xfrm>
          <a:prstGeom prst="rect">
            <a:avLst/>
          </a:prstGeom>
          <a:noFill/>
        </p:spPr>
        <p:txBody>
          <a:bodyPr wrap="square" lIns="0" rIns="0" tIns="0" bIns="0" anchor="t">
            <a:noAutofit/>
          </a:bodyPr>
          <a:lstStyle/>
          <a:p>
            <a:pPr algn="l">
              <a:lnSpc>
                <a:spcPts val="1920"/>
              </a:lnSpc>
            </a:pPr>
            <a:r>
              <a:rPr sz="1600" b="1">
                <a:solidFill>
                  <a:srgbClr val="15202B"/>
                </a:solidFill>
                <a:latin typeface="Arial"/>
              </a:rPr>
              <a:t>Does not save: training time or memory</a:t>
            </a:r>
          </a:p>
        </p:txBody>
      </p:sp>
      <p:sp>
        <p:nvSpPr>
          <p:cNvPr id="10" name="TextBox 9"/>
          <p:cNvSpPr txBox="1"/>
          <p:nvPr/>
        </p:nvSpPr>
        <p:spPr>
          <a:xfrm>
            <a:off x="4648200" y="2574544"/>
            <a:ext cx="2895600" cy="502920"/>
          </a:xfrm>
          <a:prstGeom prst="rect">
            <a:avLst/>
          </a:prstGeom>
          <a:noFill/>
        </p:spPr>
        <p:txBody>
          <a:bodyPr wrap="square" lIns="0" rIns="0" tIns="0" bIns="0" anchor="t">
            <a:noAutofit/>
          </a:bodyPr>
          <a:lstStyle/>
          <a:p>
            <a:pPr algn="l">
              <a:lnSpc>
                <a:spcPts val="3960"/>
              </a:lnSpc>
            </a:pPr>
            <a:r>
              <a:rPr sz="3600" b="1">
                <a:solidFill>
                  <a:srgbClr val="C2531F"/>
                </a:solidFill>
                <a:latin typeface="Georgia"/>
              </a:rPr>
              <a:t>885 img/s</a:t>
            </a:r>
          </a:p>
        </p:txBody>
      </p:sp>
      <p:sp>
        <p:nvSpPr>
          <p:cNvPr id="11" name="TextBox 10"/>
          <p:cNvSpPr txBox="1"/>
          <p:nvPr/>
        </p:nvSpPr>
        <p:spPr>
          <a:xfrm>
            <a:off x="4648200" y="3179064"/>
            <a:ext cx="2895600" cy="924560"/>
          </a:xfrm>
          <a:prstGeom prst="rect">
            <a:avLst/>
          </a:prstGeom>
          <a:noFill/>
        </p:spPr>
        <p:txBody>
          <a:bodyPr wrap="square" lIns="0" rIns="0" tIns="0" bIns="0" anchor="t">
            <a:noAutofit/>
          </a:bodyPr>
          <a:lstStyle/>
          <a:p>
            <a:pPr algn="l">
              <a:lnSpc>
                <a:spcPts val="1820"/>
              </a:lnSpc>
            </a:pPr>
            <a:r>
              <a:rPr sz="1400" b="0">
                <a:solidFill>
                  <a:srgbClr val="4A5563"/>
                </a:solidFill>
                <a:latin typeface="Arial"/>
              </a:rPr>
              <a:t>for LoRA on all linear layers, against 1,131 img/s for full fine-tuning; peak memory 19.9 GB against 18.9 GB.</a:t>
            </a:r>
          </a:p>
        </p:txBody>
      </p:sp>
      <p:sp>
        <p:nvSpPr>
          <p:cNvPr id="12" name="Rounded Rectangle 11"/>
          <p:cNvSpPr/>
          <p:nvPr/>
        </p:nvSpPr>
        <p:spPr>
          <a:xfrm>
            <a:off x="8026400" y="1731264"/>
            <a:ext cx="3352800" cy="2600960"/>
          </a:xfrm>
          <a:prstGeom prst="roundRect">
            <a:avLst>
              <a:gd name="adj" fmla="val 4882"/>
            </a:avLst>
          </a:prstGeom>
          <a:solidFill>
            <a:srgbClr val="F1EFE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TextBox 12"/>
          <p:cNvSpPr txBox="1"/>
          <p:nvPr/>
        </p:nvSpPr>
        <p:spPr>
          <a:xfrm>
            <a:off x="8255000" y="1959864"/>
            <a:ext cx="2895600" cy="487680"/>
          </a:xfrm>
          <a:prstGeom prst="rect">
            <a:avLst/>
          </a:prstGeom>
          <a:noFill/>
        </p:spPr>
        <p:txBody>
          <a:bodyPr wrap="square" lIns="0" rIns="0" tIns="0" bIns="0" anchor="t">
            <a:noAutofit/>
          </a:bodyPr>
          <a:lstStyle/>
          <a:p>
            <a:pPr algn="l">
              <a:lnSpc>
                <a:spcPts val="1920"/>
              </a:lnSpc>
            </a:pPr>
            <a:r>
              <a:rPr sz="1600" b="1">
                <a:solidFill>
                  <a:srgbClr val="15202B"/>
                </a:solidFill>
                <a:latin typeface="Arial"/>
              </a:rPr>
              <a:t>Merging matters at inference</a:t>
            </a:r>
          </a:p>
        </p:txBody>
      </p:sp>
      <p:sp>
        <p:nvSpPr>
          <p:cNvPr id="14" name="TextBox 13"/>
          <p:cNvSpPr txBox="1"/>
          <p:nvPr/>
        </p:nvSpPr>
        <p:spPr>
          <a:xfrm>
            <a:off x="8255000" y="2574544"/>
            <a:ext cx="2895600" cy="502920"/>
          </a:xfrm>
          <a:prstGeom prst="rect">
            <a:avLst/>
          </a:prstGeom>
          <a:noFill/>
        </p:spPr>
        <p:txBody>
          <a:bodyPr wrap="square" lIns="0" rIns="0" tIns="0" bIns="0" anchor="t">
            <a:noAutofit/>
          </a:bodyPr>
          <a:lstStyle/>
          <a:p>
            <a:pPr algn="l">
              <a:lnSpc>
                <a:spcPts val="3960"/>
              </a:lnSpc>
            </a:pPr>
            <a:r>
              <a:rPr sz="3600" b="1">
                <a:solidFill>
                  <a:srgbClr val="C2531F"/>
                </a:solidFill>
                <a:latin typeface="Georgia"/>
              </a:rPr>
              <a:t>+35%</a:t>
            </a:r>
          </a:p>
        </p:txBody>
      </p:sp>
      <p:sp>
        <p:nvSpPr>
          <p:cNvPr id="15" name="TextBox 14"/>
          <p:cNvSpPr txBox="1"/>
          <p:nvPr/>
        </p:nvSpPr>
        <p:spPr>
          <a:xfrm>
            <a:off x="8255000" y="3179064"/>
            <a:ext cx="2895600" cy="924560"/>
          </a:xfrm>
          <a:prstGeom prst="rect">
            <a:avLst/>
          </a:prstGeom>
          <a:noFill/>
        </p:spPr>
        <p:txBody>
          <a:bodyPr wrap="square" lIns="0" rIns="0" tIns="0" bIns="0" anchor="t">
            <a:noAutofit/>
          </a:bodyPr>
          <a:lstStyle/>
          <a:p>
            <a:pPr algn="l">
              <a:lnSpc>
                <a:spcPts val="1820"/>
              </a:lnSpc>
            </a:pPr>
            <a:r>
              <a:rPr sz="1400" b="0">
                <a:solidFill>
                  <a:srgbClr val="4A5563"/>
                </a:solidFill>
                <a:latin typeface="Arial"/>
              </a:rPr>
              <a:t>batch-1 latency for AdaptFormer (9.89 ms), which cannot be merged. Merged LoRA adds nothing (about 7.3 ms).</a:t>
            </a:r>
          </a:p>
        </p:txBody>
      </p:sp>
      <p:sp>
        <p:nvSpPr>
          <p:cNvPr id="16" name="TextBox 15"/>
          <p:cNvSpPr txBox="1"/>
          <p:nvPr/>
        </p:nvSpPr>
        <p:spPr>
          <a:xfrm>
            <a:off x="812800" y="6400800"/>
            <a:ext cx="9144000" cy="167640"/>
          </a:xfrm>
          <a:prstGeom prst="rect">
            <a:avLst/>
          </a:prstGeom>
          <a:noFill/>
        </p:spPr>
        <p:txBody>
          <a:bodyPr wrap="square" lIns="0" rIns="0" tIns="0" bIns="0" anchor="t">
            <a:noAutofit/>
          </a:bodyPr>
          <a:lstStyle/>
          <a:p>
            <a:pPr algn="l">
              <a:lnSpc>
                <a:spcPts val="1320"/>
              </a:lnSpc>
            </a:pPr>
            <a:r>
              <a:rPr sz="1100" b="0">
                <a:solidFill>
                  <a:srgbClr val="6B7280"/>
                </a:solidFill>
                <a:latin typeface="Arial"/>
              </a:rPr>
              <a:t>CS604 · Team 06 · All measured on an A100-80GB, bf16</a:t>
            </a:r>
          </a:p>
        </p:txBody>
      </p:sp>
      <p:sp>
        <p:nvSpPr>
          <p:cNvPr id="17" name="TextBox 16"/>
          <p:cNvSpPr txBox="1"/>
          <p:nvPr/>
        </p:nvSpPr>
        <p:spPr>
          <a:xfrm>
            <a:off x="10363200" y="6400800"/>
            <a:ext cx="1016000" cy="167640"/>
          </a:xfrm>
          <a:prstGeom prst="rect">
            <a:avLst/>
          </a:prstGeom>
          <a:noFill/>
        </p:spPr>
        <p:txBody>
          <a:bodyPr wrap="square" lIns="0" rIns="0" tIns="0" bIns="0" anchor="t">
            <a:noAutofit/>
          </a:bodyPr>
          <a:lstStyle/>
          <a:p>
            <a:pPr algn="r">
              <a:lnSpc>
                <a:spcPts val="1320"/>
              </a:lnSpc>
            </a:pPr>
            <a:r>
              <a:rPr sz="1100" b="0">
                <a:solidFill>
                  <a:srgbClr val="6B728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5202B"/>
        </a:solidFill>
        <a:effectLst/>
      </p:bgPr>
    </p:bg>
    <p:spTree>
      <p:nvGrpSpPr>
        <p:cNvPr id="1" name=""/>
        <p:cNvGrpSpPr/>
        <p:nvPr/>
      </p:nvGrpSpPr>
      <p:grpSpPr/>
      <p:sp>
        <p:nvSpPr>
          <p:cNvPr id="2" name="Title 1"/>
          <p:cNvSpPr>
            <a:spLocks noGrp="1"/>
          </p:cNvSpPr>
          <p:nvPr>
            <p:ph type="title"/>
          </p:nvPr>
        </p:nvSpPr>
        <p:spPr>
          <a:xfrm>
            <a:off x="812800" y="812800"/>
            <a:ext cx="10566400" cy="512064"/>
          </a:xfrm>
        </p:spPr>
        <p:txBody>
          <a:bodyPr wrap="square" lIns="0" rIns="0" tIns="0" bIns="0" anchor="t">
            <a:noAutofit/>
          </a:bodyPr>
          <a:lstStyle/>
          <a:p>
            <a:pPr algn="l">
              <a:lnSpc>
                <a:spcPts val="4032"/>
              </a:lnSpc>
            </a:pPr>
            <a:r>
              <a:rPr sz="3600" b="1">
                <a:solidFill>
                  <a:srgbClr val="F5F3EE"/>
                </a:solidFill>
                <a:latin typeface="Georgia"/>
              </a:rPr>
              <a:t>Takeaways</a:t>
            </a:r>
          </a:p>
        </p:txBody>
      </p:sp>
      <p:sp>
        <p:nvSpPr>
          <p:cNvPr id="3" name="TextBox 2"/>
          <p:cNvSpPr txBox="1"/>
          <p:nvPr/>
        </p:nvSpPr>
        <p:spPr>
          <a:xfrm>
            <a:off x="812800" y="1701800"/>
            <a:ext cx="508000" cy="419100"/>
          </a:xfrm>
          <a:prstGeom prst="rect">
            <a:avLst/>
          </a:prstGeom>
          <a:noFill/>
        </p:spPr>
        <p:txBody>
          <a:bodyPr wrap="square" lIns="0" rIns="0" tIns="0" bIns="0" anchor="t">
            <a:noAutofit/>
          </a:bodyPr>
          <a:lstStyle/>
          <a:p>
            <a:pPr algn="l">
              <a:lnSpc>
                <a:spcPts val="3300"/>
              </a:lnSpc>
            </a:pPr>
            <a:r>
              <a:rPr sz="3000" b="1">
                <a:solidFill>
                  <a:srgbClr val="7FB2F0"/>
                </a:solidFill>
                <a:latin typeface="Georgia"/>
              </a:rPr>
              <a:t>1</a:t>
            </a:r>
          </a:p>
        </p:txBody>
      </p:sp>
      <p:sp>
        <p:nvSpPr>
          <p:cNvPr id="4" name="TextBox 3"/>
          <p:cNvSpPr txBox="1"/>
          <p:nvPr/>
        </p:nvSpPr>
        <p:spPr>
          <a:xfrm>
            <a:off x="1524000" y="1778000"/>
            <a:ext cx="9855200" cy="660400"/>
          </a:xfrm>
          <a:prstGeom prst="rect">
            <a:avLst/>
          </a:prstGeom>
          <a:noFill/>
        </p:spPr>
        <p:txBody>
          <a:bodyPr wrap="square" lIns="0" rIns="0" tIns="0" bIns="0" anchor="t">
            <a:noAutofit/>
          </a:bodyPr>
          <a:lstStyle/>
          <a:p>
            <a:pPr algn="l">
              <a:lnSpc>
                <a:spcPts val="2600"/>
              </a:lnSpc>
            </a:pPr>
            <a:r>
              <a:rPr sz="2000" b="0">
                <a:solidFill>
                  <a:srgbClr val="F5F3EE"/>
                </a:solidFill>
                <a:latin typeface="Arial"/>
              </a:rPr>
              <a:t>Start the 10,000-class head from class prototypes, not a linear probe: +2.5 to +3.1 points.</a:t>
            </a:r>
          </a:p>
        </p:txBody>
      </p:sp>
      <p:sp>
        <p:nvSpPr>
          <p:cNvPr id="5" name="TextBox 4"/>
          <p:cNvSpPr txBox="1"/>
          <p:nvPr/>
        </p:nvSpPr>
        <p:spPr>
          <a:xfrm>
            <a:off x="812800" y="2692400"/>
            <a:ext cx="508000" cy="419100"/>
          </a:xfrm>
          <a:prstGeom prst="rect">
            <a:avLst/>
          </a:prstGeom>
          <a:noFill/>
        </p:spPr>
        <p:txBody>
          <a:bodyPr wrap="square" lIns="0" rIns="0" tIns="0" bIns="0" anchor="t">
            <a:noAutofit/>
          </a:bodyPr>
          <a:lstStyle/>
          <a:p>
            <a:pPr algn="l">
              <a:lnSpc>
                <a:spcPts val="3300"/>
              </a:lnSpc>
            </a:pPr>
            <a:r>
              <a:rPr sz="3000" b="1">
                <a:solidFill>
                  <a:srgbClr val="7FB2F0"/>
                </a:solidFill>
                <a:latin typeface="Georgia"/>
              </a:rPr>
              <a:t>2</a:t>
            </a:r>
          </a:p>
        </p:txBody>
      </p:sp>
      <p:sp>
        <p:nvSpPr>
          <p:cNvPr id="6" name="TextBox 5"/>
          <p:cNvSpPr txBox="1"/>
          <p:nvPr/>
        </p:nvSpPr>
        <p:spPr>
          <a:xfrm>
            <a:off x="1524000" y="2768600"/>
            <a:ext cx="9855200" cy="660400"/>
          </a:xfrm>
          <a:prstGeom prst="rect">
            <a:avLst/>
          </a:prstGeom>
          <a:noFill/>
        </p:spPr>
        <p:txBody>
          <a:bodyPr wrap="square" lIns="0" rIns="0" tIns="0" bIns="0" anchor="t">
            <a:noAutofit/>
          </a:bodyPr>
          <a:lstStyle/>
          <a:p>
            <a:pPr algn="l">
              <a:lnSpc>
                <a:spcPts val="2600"/>
              </a:lnSpc>
            </a:pPr>
            <a:r>
              <a:rPr sz="2000" b="0">
                <a:solidFill>
                  <a:srgbClr val="F5F3EE"/>
                </a:solidFill>
                <a:latin typeface="Arial"/>
              </a:rPr>
              <a:t>Give LoRA capacity in the MLP rather than a different learning rate: +0.88 points at 1.375% of the parameters.</a:t>
            </a:r>
          </a:p>
        </p:txBody>
      </p:sp>
      <p:sp>
        <p:nvSpPr>
          <p:cNvPr id="7" name="TextBox 6"/>
          <p:cNvSpPr txBox="1"/>
          <p:nvPr/>
        </p:nvSpPr>
        <p:spPr>
          <a:xfrm>
            <a:off x="812800" y="3683000"/>
            <a:ext cx="508000" cy="419100"/>
          </a:xfrm>
          <a:prstGeom prst="rect">
            <a:avLst/>
          </a:prstGeom>
          <a:noFill/>
        </p:spPr>
        <p:txBody>
          <a:bodyPr wrap="square" lIns="0" rIns="0" tIns="0" bIns="0" anchor="t">
            <a:noAutofit/>
          </a:bodyPr>
          <a:lstStyle/>
          <a:p>
            <a:pPr algn="l">
              <a:lnSpc>
                <a:spcPts val="3300"/>
              </a:lnSpc>
            </a:pPr>
            <a:r>
              <a:rPr sz="3000" b="1">
                <a:solidFill>
                  <a:srgbClr val="7FB2F0"/>
                </a:solidFill>
                <a:latin typeface="Georgia"/>
              </a:rPr>
              <a:t>3</a:t>
            </a:r>
          </a:p>
        </p:txBody>
      </p:sp>
      <p:sp>
        <p:nvSpPr>
          <p:cNvPr id="8" name="TextBox 7"/>
          <p:cNvSpPr txBox="1"/>
          <p:nvPr/>
        </p:nvSpPr>
        <p:spPr>
          <a:xfrm>
            <a:off x="1524000" y="3759200"/>
            <a:ext cx="9855200" cy="330200"/>
          </a:xfrm>
          <a:prstGeom prst="rect">
            <a:avLst/>
          </a:prstGeom>
          <a:noFill/>
        </p:spPr>
        <p:txBody>
          <a:bodyPr wrap="square" lIns="0" rIns="0" tIns="0" bIns="0" anchor="t">
            <a:noAutofit/>
          </a:bodyPr>
          <a:lstStyle/>
          <a:p>
            <a:pPr algn="l">
              <a:lnSpc>
                <a:spcPts val="2600"/>
              </a:lnSpc>
            </a:pPr>
            <a:r>
              <a:rPr sz="2000" b="0">
                <a:solidFill>
                  <a:srgbClr val="F5F3EE"/>
                </a:solidFill>
                <a:latin typeface="Arial"/>
              </a:rPr>
              <a:t>Spend the whole budget on full fine-tuning; stop LoRA at about 3 epochs.</a:t>
            </a:r>
          </a:p>
        </p:txBody>
      </p:sp>
      <p:sp>
        <p:nvSpPr>
          <p:cNvPr id="9" name="TextBox 8"/>
          <p:cNvSpPr txBox="1"/>
          <p:nvPr/>
        </p:nvSpPr>
        <p:spPr>
          <a:xfrm>
            <a:off x="812800" y="4343400"/>
            <a:ext cx="508000" cy="419100"/>
          </a:xfrm>
          <a:prstGeom prst="rect">
            <a:avLst/>
          </a:prstGeom>
          <a:noFill/>
        </p:spPr>
        <p:txBody>
          <a:bodyPr wrap="square" lIns="0" rIns="0" tIns="0" bIns="0" anchor="t">
            <a:noAutofit/>
          </a:bodyPr>
          <a:lstStyle/>
          <a:p>
            <a:pPr algn="l">
              <a:lnSpc>
                <a:spcPts val="3300"/>
              </a:lnSpc>
            </a:pPr>
            <a:r>
              <a:rPr sz="3000" b="1">
                <a:solidFill>
                  <a:srgbClr val="F0915F"/>
                </a:solidFill>
                <a:latin typeface="Georgia"/>
              </a:rPr>
              <a:t>4</a:t>
            </a:r>
          </a:p>
        </p:txBody>
      </p:sp>
      <p:sp>
        <p:nvSpPr>
          <p:cNvPr id="10" name="TextBox 9"/>
          <p:cNvSpPr txBox="1"/>
          <p:nvPr/>
        </p:nvSpPr>
        <p:spPr>
          <a:xfrm>
            <a:off x="1524000" y="4419600"/>
            <a:ext cx="9855200" cy="660400"/>
          </a:xfrm>
          <a:prstGeom prst="rect">
            <a:avLst/>
          </a:prstGeom>
          <a:noFill/>
        </p:spPr>
        <p:txBody>
          <a:bodyPr wrap="square" lIns="0" rIns="0" tIns="0" bIns="0" anchor="t">
            <a:noAutofit/>
          </a:bodyPr>
          <a:lstStyle/>
          <a:p>
            <a:pPr algn="l">
              <a:lnSpc>
                <a:spcPts val="2600"/>
              </a:lnSpc>
            </a:pPr>
            <a:r>
              <a:rPr sz="2000" b="0">
                <a:solidFill>
                  <a:srgbClr val="F5F3EE"/>
                </a:solidFill>
                <a:latin typeface="Arial"/>
              </a:rPr>
              <a:t>Result: 76.22% with full fine-tuning and 71.90% with LoRA on CodaBench val, both inside the budget.</a:t>
            </a:r>
          </a:p>
        </p:txBody>
      </p:sp>
      <p:sp>
        <p:nvSpPr>
          <p:cNvPr id="11" name="TextBox 10"/>
          <p:cNvSpPr txBox="1"/>
          <p:nvPr/>
        </p:nvSpPr>
        <p:spPr>
          <a:xfrm>
            <a:off x="812800" y="6400800"/>
            <a:ext cx="9144000" cy="167640"/>
          </a:xfrm>
          <a:prstGeom prst="rect">
            <a:avLst/>
          </a:prstGeom>
          <a:noFill/>
        </p:spPr>
        <p:txBody>
          <a:bodyPr wrap="square" lIns="0" rIns="0" tIns="0" bIns="0" anchor="t">
            <a:noAutofit/>
          </a:bodyPr>
          <a:lstStyle/>
          <a:p>
            <a:pPr algn="l">
              <a:lnSpc>
                <a:spcPts val="1320"/>
              </a:lnSpc>
            </a:pPr>
            <a:r>
              <a:rPr sz="1100" b="0">
                <a:solidFill>
                  <a:srgbClr val="9AA4B1"/>
                </a:solidFill>
                <a:latin typeface="Arial"/>
              </a:rPr>
              <a:t>CS604 · Team 06</a:t>
            </a:r>
          </a:p>
        </p:txBody>
      </p:sp>
      <p:sp>
        <p:nvSpPr>
          <p:cNvPr id="12" name="TextBox 11"/>
          <p:cNvSpPr txBox="1"/>
          <p:nvPr/>
        </p:nvSpPr>
        <p:spPr>
          <a:xfrm>
            <a:off x="10363200" y="6400800"/>
            <a:ext cx="1016000" cy="167640"/>
          </a:xfrm>
          <a:prstGeom prst="rect">
            <a:avLst/>
          </a:prstGeom>
          <a:noFill/>
        </p:spPr>
        <p:txBody>
          <a:bodyPr wrap="square" lIns="0" rIns="0" tIns="0" bIns="0" anchor="t">
            <a:noAutofit/>
          </a:bodyPr>
          <a:lstStyle/>
          <a:p>
            <a:pPr algn="r">
              <a:lnSpc>
                <a:spcPts val="1320"/>
              </a:lnSpc>
            </a:pPr>
            <a:r>
              <a:rPr sz="1100" b="0">
                <a:solidFill>
                  <a:srgbClr val="9AA4B1"/>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1EFEA"/>
        </a:solidFill>
        <a:effectLst/>
      </p:bgPr>
    </p:bg>
    <p:spTree>
      <p:nvGrpSpPr>
        <p:cNvPr id="1" name=""/>
        <p:cNvGrpSpPr/>
        <p:nvPr/>
      </p:nvGrpSpPr>
      <p:grpSpPr/>
      <p:sp>
        <p:nvSpPr>
          <p:cNvPr id="2" name="Title 1"/>
          <p:cNvSpPr>
            <a:spLocks noGrp="1"/>
          </p:cNvSpPr>
          <p:nvPr>
            <p:ph type="title"/>
          </p:nvPr>
        </p:nvSpPr>
        <p:spPr>
          <a:xfrm>
            <a:off x="812800" y="2489200"/>
            <a:ext cx="10566400" cy="800100"/>
          </a:xfrm>
        </p:spPr>
        <p:txBody>
          <a:bodyPr wrap="square" lIns="0" rIns="0" tIns="0" bIns="0" anchor="t">
            <a:noAutofit/>
          </a:bodyPr>
          <a:lstStyle/>
          <a:p>
            <a:pPr algn="l">
              <a:lnSpc>
                <a:spcPts val="6300"/>
              </a:lnSpc>
            </a:pPr>
            <a:r>
              <a:rPr sz="6000" b="1">
                <a:solidFill>
                  <a:srgbClr val="15202B"/>
                </a:solidFill>
                <a:latin typeface="Georgia"/>
              </a:rPr>
              <a:t>Thank you</a:t>
            </a:r>
          </a:p>
        </p:txBody>
      </p:sp>
      <p:sp>
        <p:nvSpPr>
          <p:cNvPr id="3" name="TextBox 2"/>
          <p:cNvSpPr txBox="1"/>
          <p:nvPr/>
        </p:nvSpPr>
        <p:spPr>
          <a:xfrm>
            <a:off x="812800" y="812800"/>
            <a:ext cx="8890000" cy="213360"/>
          </a:xfrm>
          <a:prstGeom prst="rect">
            <a:avLst/>
          </a:prstGeom>
          <a:noFill/>
        </p:spPr>
        <p:txBody>
          <a:bodyPr wrap="square" lIns="0" rIns="0" tIns="0" bIns="0" anchor="t">
            <a:noAutofit/>
          </a:bodyPr>
          <a:lstStyle/>
          <a:p>
            <a:pPr algn="l">
              <a:lnSpc>
                <a:spcPts val="1680"/>
              </a:lnSpc>
            </a:pPr>
            <a:r>
              <a:rPr sz="1400" b="1" spc="200">
                <a:solidFill>
                  <a:srgbClr val="1F5FAD"/>
                </a:solidFill>
                <a:latin typeface="Arial"/>
              </a:rPr>
              <a:t>CS604 · TEAM 06</a:t>
            </a:r>
          </a:p>
        </p:txBody>
      </p:sp>
      <p:sp>
        <p:nvSpPr>
          <p:cNvPr id="4" name="Oval 3"/>
          <p:cNvSpPr/>
          <p:nvPr/>
        </p:nvSpPr>
        <p:spPr>
          <a:xfrm>
            <a:off x="10820400" y="838200"/>
            <a:ext cx="127000" cy="127000"/>
          </a:xfrm>
          <a:prstGeom prst="ellipse">
            <a:avLst/>
          </a:prstGeom>
          <a:solidFill>
            <a:srgbClr val="9AA1A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Oval 4"/>
          <p:cNvSpPr/>
          <p:nvPr/>
        </p:nvSpPr>
        <p:spPr>
          <a:xfrm>
            <a:off x="11023600" y="838200"/>
            <a:ext cx="127000" cy="127000"/>
          </a:xfrm>
          <a:prstGeom prst="ellipse">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Oval 5"/>
          <p:cNvSpPr/>
          <p:nvPr/>
        </p:nvSpPr>
        <p:spPr>
          <a:xfrm>
            <a:off x="11226800" y="838200"/>
            <a:ext cx="127000" cy="127000"/>
          </a:xfrm>
          <a:prstGeom prst="ellipse">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 name="TextBox 6"/>
          <p:cNvSpPr txBox="1"/>
          <p:nvPr/>
        </p:nvSpPr>
        <p:spPr>
          <a:xfrm>
            <a:off x="812800" y="3517900"/>
            <a:ext cx="10566400" cy="363220"/>
          </a:xfrm>
          <a:prstGeom prst="rect">
            <a:avLst/>
          </a:prstGeom>
          <a:noFill/>
        </p:spPr>
        <p:txBody>
          <a:bodyPr wrap="square" lIns="0" rIns="0" tIns="0" bIns="0" anchor="t">
            <a:noAutofit/>
          </a:bodyPr>
          <a:lstStyle/>
          <a:p>
            <a:pPr algn="l">
              <a:lnSpc>
                <a:spcPts val="2860"/>
              </a:lnSpc>
            </a:pPr>
            <a:r>
              <a:rPr sz="2200" b="0">
                <a:solidFill>
                  <a:srgbClr val="4A5563"/>
                </a:solidFill>
                <a:latin typeface="Arial"/>
              </a:rPr>
              <a:t>Questions are welcome.</a:t>
            </a:r>
          </a:p>
        </p:txBody>
      </p:sp>
      <p:sp>
        <p:nvSpPr>
          <p:cNvPr id="8" name="TextBox 7"/>
          <p:cNvSpPr txBox="1"/>
          <p:nvPr/>
        </p:nvSpPr>
        <p:spPr>
          <a:xfrm>
            <a:off x="812800" y="5943600"/>
            <a:ext cx="10566400" cy="213360"/>
          </a:xfrm>
          <a:prstGeom prst="rect">
            <a:avLst/>
          </a:prstGeom>
          <a:noFill/>
        </p:spPr>
        <p:txBody>
          <a:bodyPr wrap="square" lIns="0" rIns="0" tIns="0" bIns="0" anchor="t">
            <a:noAutofit/>
          </a:bodyPr>
          <a:lstStyle/>
          <a:p>
            <a:pPr algn="l">
              <a:lnSpc>
                <a:spcPts val="1680"/>
              </a:lnSpc>
            </a:pPr>
            <a:r>
              <a:rPr sz="1400" b="0">
                <a:solidFill>
                  <a:srgbClr val="4A5563"/>
                </a:solidFill>
                <a:latin typeface="Arial"/>
              </a:rPr>
              <a:t>[Member names]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AF9F6"/>
        </a:solidFill>
        <a:effectLst/>
      </p:bgPr>
    </p:bg>
    <p:spTree>
      <p:nvGrpSpPr>
        <p:cNvPr id="1" name=""/>
        <p:cNvGrpSpPr/>
        <p:nvPr/>
      </p:nvGrpSpPr>
      <p:grpSpPr/>
      <p:sp>
        <p:nvSpPr>
          <p:cNvPr id="2" name="Title 1"/>
          <p:cNvSpPr>
            <a:spLocks noGrp="1"/>
          </p:cNvSpPr>
          <p:nvPr>
            <p:ph type="title"/>
          </p:nvPr>
        </p:nvSpPr>
        <p:spPr>
          <a:xfrm>
            <a:off x="812800" y="889000"/>
            <a:ext cx="10566400" cy="1024128"/>
          </a:xfrm>
        </p:spPr>
        <p:txBody>
          <a:bodyPr wrap="square" lIns="0" rIns="0" tIns="0" bIns="0" anchor="t">
            <a:noAutofit/>
          </a:bodyPr>
          <a:lstStyle/>
          <a:p>
            <a:pPr algn="l">
              <a:lnSpc>
                <a:spcPts val="4032"/>
              </a:lnSpc>
            </a:pPr>
            <a:r>
              <a:rPr sz="3600" b="1">
                <a:solidFill>
                  <a:srgbClr val="15202B"/>
                </a:solidFill>
                <a:latin typeface="Georgia"/>
              </a:rPr>
              <a:t>Implementation details and budget accounting</a:t>
            </a:r>
          </a:p>
        </p:txBody>
      </p:sp>
      <p:sp>
        <p:nvSpPr>
          <p:cNvPr id="3" name="TextBox 2"/>
          <p:cNvSpPr txBox="1"/>
          <p:nvPr/>
        </p:nvSpPr>
        <p:spPr>
          <a:xfrm>
            <a:off x="812800" y="635000"/>
            <a:ext cx="10566400" cy="182880"/>
          </a:xfrm>
          <a:prstGeom prst="rect">
            <a:avLst/>
          </a:prstGeom>
          <a:noFill/>
        </p:spPr>
        <p:txBody>
          <a:bodyPr wrap="square" lIns="0" rIns="0" tIns="0" bIns="0" anchor="t">
            <a:noAutofit/>
          </a:bodyPr>
          <a:lstStyle/>
          <a:p>
            <a:pPr algn="l">
              <a:lnSpc>
                <a:spcPts val="1439"/>
              </a:lnSpc>
            </a:pPr>
            <a:r>
              <a:rPr sz="1200" b="1" spc="150">
                <a:solidFill>
                  <a:srgbClr val="1F5FAD"/>
                </a:solidFill>
                <a:latin typeface="Arial"/>
              </a:rPr>
              <a:t>BACKUP</a:t>
            </a:r>
          </a:p>
        </p:txBody>
      </p:sp>
      <p:sp>
        <p:nvSpPr>
          <p:cNvPr id="4" name="TextBox 3"/>
          <p:cNvSpPr txBox="1"/>
          <p:nvPr/>
        </p:nvSpPr>
        <p:spPr>
          <a:xfrm>
            <a:off x="812800" y="2217928"/>
            <a:ext cx="5080000" cy="243840"/>
          </a:xfrm>
          <a:prstGeom prst="rect">
            <a:avLst/>
          </a:prstGeom>
          <a:noFill/>
        </p:spPr>
        <p:txBody>
          <a:bodyPr wrap="square" lIns="0" rIns="0" tIns="0" bIns="0" anchor="t">
            <a:noAutofit/>
          </a:bodyPr>
          <a:lstStyle/>
          <a:p>
            <a:pPr algn="l">
              <a:lnSpc>
                <a:spcPts val="1920"/>
              </a:lnSpc>
            </a:pPr>
            <a:r>
              <a:rPr sz="1600" b="1">
                <a:solidFill>
                  <a:srgbClr val="15202B"/>
                </a:solidFill>
                <a:latin typeface="Arial"/>
              </a:rPr>
              <a:t>Training</a:t>
            </a:r>
          </a:p>
        </p:txBody>
      </p:sp>
      <p:sp>
        <p:nvSpPr>
          <p:cNvPr id="5" name="TextBox 4"/>
          <p:cNvSpPr txBox="1"/>
          <p:nvPr/>
        </p:nvSpPr>
        <p:spPr>
          <a:xfrm>
            <a:off x="812800" y="2588768"/>
            <a:ext cx="5080000" cy="3048000"/>
          </a:xfrm>
          <a:prstGeom prst="rect">
            <a:avLst/>
          </a:prstGeom>
          <a:noFill/>
        </p:spPr>
        <p:txBody>
          <a:bodyPr wrap="square" lIns="0" rIns="0" tIns="0" bIns="0" anchor="t">
            <a:noAutofit/>
          </a:bodyPr>
          <a:lstStyle/>
          <a:p>
            <a:pPr algn="l" marL="177800" indent="-177800">
              <a:lnSpc>
                <a:spcPts val="1750"/>
              </a:lnSpc>
              <a:spcAft>
                <a:spcPts val="600"/>
              </a:spcAft>
              <a:buFont typeface="Arial"/>
              <a:buChar char="•"/>
            </a:pPr>
            <a:r>
              <a:rPr sz="1400" b="0">
                <a:solidFill>
                  <a:srgbClr val="4A5563"/>
                </a:solidFill>
                <a:latin typeface="Arial"/>
              </a:rPr>
              <a:t>Backbone: timm vit_base_patch16_224.augreg2_in21k_ft_in1k (85.8M parameters); new 10,000-class head (7.69M)</a:t>
            </a:r>
          </a:p>
          <a:p>
            <a:pPr algn="l" marL="177800" indent="-177800">
              <a:lnSpc>
                <a:spcPts val="1750"/>
              </a:lnSpc>
              <a:spcAft>
                <a:spcPts val="600"/>
              </a:spcAft>
              <a:buFont typeface="Arial"/>
              <a:buChar char="•"/>
            </a:pPr>
            <a:r>
              <a:rPr sz="1400" b="0">
                <a:solidFill>
                  <a:srgbClr val="4A5563"/>
                </a:solidFill>
                <a:latin typeface="Arial"/>
              </a:rPr>
              <a:t>AdamW, warmup then cosine decay, bf16, batch 256, label smoothing 0.1, gradient clipping at 1.0</a:t>
            </a:r>
          </a:p>
          <a:p>
            <a:pPr algn="l" marL="177800" indent="-177800">
              <a:lnSpc>
                <a:spcPts val="1750"/>
              </a:lnSpc>
              <a:spcAft>
                <a:spcPts val="600"/>
              </a:spcAft>
              <a:buFont typeface="Arial"/>
              <a:buChar char="•"/>
            </a:pPr>
            <a:r>
              <a:rPr sz="1400" b="0">
                <a:solidFill>
                  <a:srgbClr val="4A5563"/>
                </a:solidFill>
                <a:latin typeface="Arial"/>
              </a:rPr>
              <a:t>Augmentation: RandomResizedCrop (area 0.25–1) and horizontal flip</a:t>
            </a:r>
          </a:p>
          <a:p>
            <a:pPr algn="l" marL="177800" indent="-177800">
              <a:lnSpc>
                <a:spcPts val="1750"/>
              </a:lnSpc>
              <a:spcAft>
                <a:spcPts val="600"/>
              </a:spcAft>
              <a:buFont typeface="Arial"/>
              <a:buChar char="•"/>
            </a:pPr>
            <a:r>
              <a:rPr sz="1400" b="0">
                <a:solidFill>
                  <a:srgbClr val="4A5563"/>
                </a:solidFill>
                <a:latin typeface="Arial"/>
              </a:rPr>
              <a:t>Full fine-tuning: LR 1e-4, weight decay 0.05, layer-wise LR decay 0.75, drop path 0.1</a:t>
            </a:r>
          </a:p>
          <a:p>
            <a:pPr algn="l" marL="177800" indent="-177800">
              <a:lnSpc>
                <a:spcPts val="1750"/>
              </a:lnSpc>
              <a:spcAft>
                <a:spcPts val="600"/>
              </a:spcAft>
              <a:buFont typeface="Arial"/>
              <a:buChar char="•"/>
            </a:pPr>
            <a:r>
              <a:rPr sz="1400" b="0">
                <a:solidFill>
                  <a:srgbClr val="4A5563"/>
                </a:solidFill>
                <a:latin typeface="Arial"/>
              </a:rPr>
              <a:t>LoRA: r = 8, α = 16, LR 1e-3, weight decay 1e-4, merged after training</a:t>
            </a:r>
          </a:p>
          <a:p>
            <a:pPr algn="l" marL="177800" indent="-177800">
              <a:lnSpc>
                <a:spcPts val="1750"/>
              </a:lnSpc>
              <a:buFont typeface="Arial"/>
              <a:buChar char="•"/>
            </a:pPr>
            <a:r>
              <a:rPr sz="1400" b="0">
                <a:solidFill>
                  <a:srgbClr val="4A5563"/>
                </a:solidFill>
                <a:latin typeface="Arial"/>
              </a:rPr>
              <a:t>AdaptFormer: bottleneck 64, scale 0.1, parallel to the MLP</a:t>
            </a:r>
          </a:p>
        </p:txBody>
      </p:sp>
      <p:sp>
        <p:nvSpPr>
          <p:cNvPr id="6" name="TextBox 5"/>
          <p:cNvSpPr txBox="1"/>
          <p:nvPr/>
        </p:nvSpPr>
        <p:spPr>
          <a:xfrm>
            <a:off x="6299200" y="2217928"/>
            <a:ext cx="5080000" cy="243840"/>
          </a:xfrm>
          <a:prstGeom prst="rect">
            <a:avLst/>
          </a:prstGeom>
          <a:noFill/>
        </p:spPr>
        <p:txBody>
          <a:bodyPr wrap="square" lIns="0" rIns="0" tIns="0" bIns="0" anchor="t">
            <a:noAutofit/>
          </a:bodyPr>
          <a:lstStyle/>
          <a:p>
            <a:pPr algn="l">
              <a:lnSpc>
                <a:spcPts val="1920"/>
              </a:lnSpc>
            </a:pPr>
            <a:r>
              <a:rPr sz="1600" b="1">
                <a:solidFill>
                  <a:srgbClr val="15202B"/>
                </a:solidFill>
                <a:latin typeface="Arial"/>
              </a:rPr>
              <a:t>Measurement</a:t>
            </a:r>
          </a:p>
        </p:txBody>
      </p:sp>
      <p:sp>
        <p:nvSpPr>
          <p:cNvPr id="7" name="TextBox 6"/>
          <p:cNvSpPr txBox="1"/>
          <p:nvPr/>
        </p:nvSpPr>
        <p:spPr>
          <a:xfrm>
            <a:off x="6299200" y="2588768"/>
            <a:ext cx="5080000" cy="3270250"/>
          </a:xfrm>
          <a:prstGeom prst="rect">
            <a:avLst/>
          </a:prstGeom>
          <a:noFill/>
        </p:spPr>
        <p:txBody>
          <a:bodyPr wrap="square" lIns="0" rIns="0" tIns="0" bIns="0" anchor="t">
            <a:noAutofit/>
          </a:bodyPr>
          <a:lstStyle/>
          <a:p>
            <a:pPr algn="l" marL="177800" indent="-177800">
              <a:lnSpc>
                <a:spcPts val="1750"/>
              </a:lnSpc>
              <a:spcAft>
                <a:spcPts val="600"/>
              </a:spcAft>
              <a:buFont typeface="Arial"/>
              <a:buChar char="•"/>
            </a:pPr>
            <a:r>
              <a:rPr sz="1400" b="0">
                <a:solidFill>
                  <a:srgbClr val="4A5563"/>
                </a:solidFill>
                <a:latin typeface="Arial"/>
              </a:rPr>
              <a:t>Budget: 96 GB·h ÷ 80 GB = 1.2 h per run on an A100-80GB (±10% allowed)</a:t>
            </a:r>
          </a:p>
          <a:p>
            <a:pPr algn="l" marL="177800" indent="-177800">
              <a:lnSpc>
                <a:spcPts val="1750"/>
              </a:lnSpc>
              <a:spcAft>
                <a:spcPts val="600"/>
              </a:spcAft>
              <a:buFont typeface="Arial"/>
              <a:buChar char="•"/>
            </a:pPr>
            <a:r>
              <a:rPr sz="1400" b="0">
                <a:solidFill>
                  <a:srgbClr val="4A5563"/>
                </a:solidFill>
                <a:latin typeface="Arial"/>
              </a:rPr>
              <a:t>Counted: head initialization with feature extraction, training, per-epoch holdout evaluation</a:t>
            </a:r>
          </a:p>
          <a:p>
            <a:pPr algn="l" marL="177800" indent="-177800">
              <a:lnSpc>
                <a:spcPts val="1750"/>
              </a:lnSpc>
              <a:spcAft>
                <a:spcPts val="600"/>
              </a:spcAft>
              <a:buFont typeface="Arial"/>
              <a:buChar char="•"/>
            </a:pPr>
            <a:r>
              <a:rPr sz="1400" b="0">
                <a:solidFill>
                  <a:srgbClr val="4A5563"/>
                </a:solidFill>
                <a:latin typeface="Arial"/>
              </a:rPr>
              <a:t>Not counted: unpacking data, saving checkpoints, final prediction</a:t>
            </a:r>
          </a:p>
          <a:p>
            <a:pPr algn="l" marL="177800" indent="-177800">
              <a:lnSpc>
                <a:spcPts val="1750"/>
              </a:lnSpc>
              <a:spcAft>
                <a:spcPts val="600"/>
              </a:spcAft>
              <a:buFont typeface="Arial"/>
              <a:buChar char="•"/>
            </a:pPr>
            <a:r>
              <a:rPr sz="1400" b="0">
                <a:solidFill>
                  <a:srgbClr val="4A5563"/>
                </a:solidFill>
                <a:latin typeface="Arial"/>
              </a:rPr>
              <a:t>Latency: random input, forward pass only, bf16, batch 1; about 3,850 img/s at batch 256</a:t>
            </a:r>
          </a:p>
          <a:p>
            <a:pPr algn="l" marL="177800" indent="-177800">
              <a:lnSpc>
                <a:spcPts val="1750"/>
              </a:lnSpc>
              <a:spcAft>
                <a:spcPts val="600"/>
              </a:spcAft>
              <a:buFont typeface="Arial"/>
              <a:buChar char="•"/>
            </a:pPr>
            <a:r>
              <a:rPr sz="1400" b="0">
                <a:solidFill>
                  <a:srgbClr val="4A5563"/>
                </a:solidFill>
                <a:latin typeface="Arial"/>
              </a:rPr>
              <a:t>Software: torch 2.11.0 (CUDA 13.0), timm 1.0.30, peft 0.21.1</a:t>
            </a:r>
          </a:p>
          <a:p>
            <a:pPr algn="l" marL="177800" indent="-177800">
              <a:lnSpc>
                <a:spcPts val="1750"/>
              </a:lnSpc>
              <a:buFont typeface="Arial"/>
              <a:buChar char="•"/>
            </a:pPr>
            <a:r>
              <a:rPr sz="1400" b="0">
                <a:solidFill>
                  <a:srgbClr val="4A5563"/>
                </a:solidFill>
                <a:latin typeface="Arial"/>
              </a:rPr>
              <a:t>Hardware: A100-SXM4-80GB with 12 CPUs; one ablation batch ran on an RTX PRO 6000 and is used for accuracy only</a:t>
            </a:r>
          </a:p>
        </p:txBody>
      </p:sp>
      <p:sp>
        <p:nvSpPr>
          <p:cNvPr id="8" name="TextBox 7"/>
          <p:cNvSpPr txBox="1"/>
          <p:nvPr/>
        </p:nvSpPr>
        <p:spPr>
          <a:xfrm>
            <a:off x="812800" y="6400800"/>
            <a:ext cx="9144000" cy="167640"/>
          </a:xfrm>
          <a:prstGeom prst="rect">
            <a:avLst/>
          </a:prstGeom>
          <a:noFill/>
        </p:spPr>
        <p:txBody>
          <a:bodyPr wrap="square" lIns="0" rIns="0" tIns="0" bIns="0" anchor="t">
            <a:noAutofit/>
          </a:bodyPr>
          <a:lstStyle/>
          <a:p>
            <a:pPr algn="l">
              <a:lnSpc>
                <a:spcPts val="1320"/>
              </a:lnSpc>
            </a:pPr>
            <a:r>
              <a:rPr sz="1100" b="0">
                <a:solidFill>
                  <a:srgbClr val="6B7280"/>
                </a:solidFill>
                <a:latin typeface="Arial"/>
              </a:rPr>
              <a:t>CS604 · Team 06</a:t>
            </a:r>
          </a:p>
        </p:txBody>
      </p:sp>
      <p:sp>
        <p:nvSpPr>
          <p:cNvPr id="9" name="TextBox 8"/>
          <p:cNvSpPr txBox="1"/>
          <p:nvPr/>
        </p:nvSpPr>
        <p:spPr>
          <a:xfrm>
            <a:off x="10363200" y="6400800"/>
            <a:ext cx="1016000" cy="167640"/>
          </a:xfrm>
          <a:prstGeom prst="rect">
            <a:avLst/>
          </a:prstGeom>
          <a:noFill/>
        </p:spPr>
        <p:txBody>
          <a:bodyPr wrap="square" lIns="0" rIns="0" tIns="0" bIns="0" anchor="t">
            <a:noAutofit/>
          </a:bodyPr>
          <a:lstStyle/>
          <a:p>
            <a:pPr algn="r">
              <a:lnSpc>
                <a:spcPts val="1320"/>
              </a:lnSpc>
            </a:pPr>
            <a:r>
              <a:rPr sz="1100" b="0">
                <a:solidFill>
                  <a:srgbClr val="6B7280"/>
                </a:solidFill>
                <a:latin typeface="Arial"/>
              </a:rP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Prototype-initialized adaptation of ViT-B/16 for 10,000-class fine-grained classification</dc:title>
  <dc:subject/>
  <dc:creator>CS604 Team 06</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